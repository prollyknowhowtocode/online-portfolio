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43E38-CBCE-C94D-81C2-30B66D664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D915C-6D24-627E-7DE7-BB2C25B67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757F9-8AB8-3903-31DD-FB4F3424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1EF9-09EF-447F-824E-ECF1C565EFEA}" type="datetimeFigureOut">
              <a:rPr lang="en-PH" smtClean="0"/>
              <a:t>13/12/2023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5AFAD-EC05-3E48-45B2-F9D41BDB3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76E63-80F4-98C4-84D7-5F605CDA6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7D81-2BA0-4417-9BE2-92B29B5B9C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07102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D65A-C991-1F41-FF29-DC3ACBF0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31387-6879-7222-19AB-CF27C1EE0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01E0E-EF98-9BA1-CA7A-BF9AC9DED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1EF9-09EF-447F-824E-ECF1C565EFEA}" type="datetimeFigureOut">
              <a:rPr lang="en-PH" smtClean="0"/>
              <a:t>13/12/2023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919D0-56C9-F1F2-B335-C96849B6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E21A4-21FE-57A6-1AEF-15E425CF8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7D81-2BA0-4417-9BE2-92B29B5B9C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49833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F76E5-7367-E795-246F-B0B7584B6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DD35D-70A6-4C46-F844-551103B99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EDC79-43B8-F6AC-E396-862A39171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1EF9-09EF-447F-824E-ECF1C565EFEA}" type="datetimeFigureOut">
              <a:rPr lang="en-PH" smtClean="0"/>
              <a:t>13/12/2023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C6E6B-6F2F-F6CC-35D7-62B594958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0CB87-D3D9-7F21-28B0-2B6659B9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7D81-2BA0-4417-9BE2-92B29B5B9C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3548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2CC0-B067-99CF-E40E-AE648D86B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9D9DC-7D9E-8131-3A9D-0267A28C3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D63FD-6EBA-8A4A-FADE-0E2C40A03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C7E59-23EA-17CD-454F-644A1C6FB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1EF9-09EF-447F-824E-ECF1C565EFEA}" type="datetimeFigureOut">
              <a:rPr lang="en-PH" smtClean="0"/>
              <a:t>13/12/2023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FEE31-6276-85D9-27D3-1DB91FBBB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CAC2B-5BDC-494E-3C7E-26AFD7493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7D81-2BA0-4417-9BE2-92B29B5B9C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96391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9C576-FE53-67CB-8CDE-5D9588487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A96A9-DAAE-A588-C104-11E1281AD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C587D-507A-E633-6DE1-B51DE7C61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CFE47B-1741-91C7-D39C-2BB7B80E0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312FC3-E432-ECCD-2539-C2CF7093E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788AF3-DF86-0C14-196C-B64448105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1EF9-09EF-447F-824E-ECF1C565EFEA}" type="datetimeFigureOut">
              <a:rPr lang="en-PH" smtClean="0"/>
              <a:t>13/12/2023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1615E-9BDE-71B1-3BC5-2EC88765B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98D826-AD9D-BDBD-BF08-A1BAD32C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7D81-2BA0-4417-9BE2-92B29B5B9C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3532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F7229-D688-7541-025D-FFD31748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EC3E3-44D0-5D3B-C3F3-1AA43A55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1EF9-09EF-447F-824E-ECF1C565EFEA}" type="datetimeFigureOut">
              <a:rPr lang="en-PH" smtClean="0"/>
              <a:t>13/12/2023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7D737-CC4C-F7AD-A4FC-B27D054B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76E6A-C0E4-3ED3-3100-E4501919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7D81-2BA0-4417-9BE2-92B29B5B9C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93822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651028-4EBE-16ED-0CFE-02D5FFB6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1EF9-09EF-447F-824E-ECF1C565EFEA}" type="datetimeFigureOut">
              <a:rPr lang="en-PH" smtClean="0"/>
              <a:t>13/12/2023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916EBE-6AB2-847A-3990-2EBBE72D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A1CA5-DF22-5E7F-DDA4-F1BA68B1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7D81-2BA0-4417-9BE2-92B29B5B9C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46657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0593-4DF8-5A13-0CEF-9BF4B6A28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4C578-EC2D-6789-4283-04A038AD4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C3F53-B90A-815A-DC11-8C80BBCD5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6D988-95CC-B747-999B-B50CA47D9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1EF9-09EF-447F-824E-ECF1C565EFEA}" type="datetimeFigureOut">
              <a:rPr lang="en-PH" smtClean="0"/>
              <a:t>13/12/2023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BA3A2-0F53-A25E-83D8-CB89233B7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757DD-98FA-378F-2471-4B7D25A0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7D81-2BA0-4417-9BE2-92B29B5B9C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47810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9F75E-BA74-B49C-B91D-7C434430C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EAAB6-A2F4-6EB3-54EA-5B103939E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DBA381-D099-1F51-19E2-D1B0724D2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8F4C0-0F6F-CAD3-76C3-88F28BB4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1EF9-09EF-447F-824E-ECF1C565EFEA}" type="datetimeFigureOut">
              <a:rPr lang="en-PH" smtClean="0"/>
              <a:t>13/12/2023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C0D1E-BCC5-20AA-68B0-1D0EE5AD4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DC0DA-52B2-15D3-D5D7-67C8ABD7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7D81-2BA0-4417-9BE2-92B29B5B9C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3949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DA383-7C63-0213-F1E9-E4ADCB60E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F4CA5-5DF0-A568-1136-123A2230B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6C94C-8CF9-BE63-11AA-1C5838C74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1EF9-09EF-447F-824E-ECF1C565EFEA}" type="datetimeFigureOut">
              <a:rPr lang="en-PH" smtClean="0"/>
              <a:t>13/12/2023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803DE-828D-41BA-2F75-606DE8620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184AE-AFF7-2466-0900-10A3D57A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7D81-2BA0-4417-9BE2-92B29B5B9C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38871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0C91D2-49A0-2916-F53E-E92AD8F4F1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A1072-FCB3-3A78-F87D-FFA73409C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E799C-8468-A944-14A7-A78C40F8E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1EF9-09EF-447F-824E-ECF1C565EFEA}" type="datetimeFigureOut">
              <a:rPr lang="en-PH" smtClean="0"/>
              <a:t>13/12/2023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C5384-EB14-C89D-ACCA-B4E42831A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E37D2-035C-9E47-3D09-1FB1C4C5F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7D81-2BA0-4417-9BE2-92B29B5B9C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82245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34DB3E-5FB5-341E-9004-E283EAE23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D7157-59D7-7B3B-391D-1D8D6F759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D7275-8948-0930-9AF8-241E462ABC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51EF9-09EF-447F-824E-ECF1C565EFEA}" type="datetimeFigureOut">
              <a:rPr lang="en-PH" smtClean="0"/>
              <a:t>13/12/2023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E9A38-01F4-9C54-AC6B-F940198AD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92A59-07EB-3F84-816A-D49D767C5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47D81-2BA0-4417-9BE2-92B29B5B9C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044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microsoft.com/office/2007/relationships/hdphoto" Target="../media/hdphoto1.wdp"/><Relationship Id="rId7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microsoft.com/office/2007/relationships/hdphoto" Target="../media/hdphoto1.wdp"/><Relationship Id="rId7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" Target="slide7.xml"/><Relationship Id="rId9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4.png"/><Relationship Id="rId10" Type="http://schemas.openxmlformats.org/officeDocument/2006/relationships/slide" Target="slide8.xml"/><Relationship Id="rId4" Type="http://schemas.openxmlformats.org/officeDocument/2006/relationships/image" Target="../media/image3.png"/><Relationship Id="rId9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4.png"/><Relationship Id="rId10" Type="http://schemas.openxmlformats.org/officeDocument/2006/relationships/slide" Target="slide8.xml"/><Relationship Id="rId4" Type="http://schemas.openxmlformats.org/officeDocument/2006/relationships/image" Target="../media/image3.png"/><Relationship Id="rId9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microsoft.com/office/2007/relationships/hdphoto" Target="../media/hdphoto1.wdp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6.png"/><Relationship Id="rId4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7.wdp"/><Relationship Id="rId7" Type="http://schemas.microsoft.com/office/2007/relationships/hdphoto" Target="../media/hdphoto5.wdp"/><Relationship Id="rId12" Type="http://schemas.openxmlformats.org/officeDocument/2006/relationships/slide" Target="slide1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hdphoto" Target="../media/hdphoto8.wdp"/><Relationship Id="rId5" Type="http://schemas.microsoft.com/office/2007/relationships/hdphoto" Target="../media/hdphoto1.wdp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microsoft.com/office/2007/relationships/hdphoto" Target="../media/hdphoto6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microsoft.com/office/2007/relationships/hdphoto" Target="../media/hdphoto6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slide" Target="slide11.xml"/><Relationship Id="rId5" Type="http://schemas.microsoft.com/office/2007/relationships/hdphoto" Target="../media/hdphoto5.wdp"/><Relationship Id="rId10" Type="http://schemas.openxmlformats.org/officeDocument/2006/relationships/slide" Target="slide8.xml"/><Relationship Id="rId4" Type="http://schemas.openxmlformats.org/officeDocument/2006/relationships/image" Target="../media/image6.png"/><Relationship Id="rId9" Type="http://schemas.microsoft.com/office/2007/relationships/hdphoto" Target="../media/hdphoto9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0.wdp"/><Relationship Id="rId5" Type="http://schemas.openxmlformats.org/officeDocument/2006/relationships/image" Target="../media/image11.png"/><Relationship Id="rId4" Type="http://schemas.openxmlformats.org/officeDocument/2006/relationships/slide" Target="slide13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5" Type="http://schemas.microsoft.com/office/2007/relationships/hdphoto" Target="../media/hdphoto10.wdp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microsoft.com/office/2007/relationships/hdphoto" Target="../media/hdphoto1.wdp"/><Relationship Id="rId7" Type="http://schemas.microsoft.com/office/2007/relationships/hdphoto" Target="../media/hdphoto9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microsoft.com/office/2007/relationships/hdphoto" Target="../media/hdphoto10.wdp"/><Relationship Id="rId4" Type="http://schemas.openxmlformats.org/officeDocument/2006/relationships/image" Target="../media/image11.png"/><Relationship Id="rId9" Type="http://schemas.openxmlformats.org/officeDocument/2006/relationships/slide" Target="slide14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4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BFBE-C375-7602-932B-FF3D0524AE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TROLLEY PROBLEM</a:t>
            </a:r>
            <a:endParaRPr lang="en-P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BBBEEB-0177-5B9A-03E8-FF5059A95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: GUIAN PAUL SUMAGPANG</a:t>
            </a:r>
          </a:p>
          <a:p>
            <a:r>
              <a:rPr lang="en-US"/>
              <a:t>BSIT 1-7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49830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4F514C1-B1A9-E995-773C-76FCAF891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68" y="591909"/>
            <a:ext cx="419158" cy="10002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DC507E-FF02-3793-C882-41BAD16C07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774" b="94340" l="8511" r="97872">
                        <a14:foregroundMark x1="55319" y1="54717" x2="72340" y2="81132"/>
                        <a14:foregroundMark x1="76596" y1="39623" x2="65957" y2="90566"/>
                        <a14:foregroundMark x1="78723" y1="54717" x2="57447" y2="96226"/>
                        <a14:foregroundMark x1="57447" y1="35849" x2="40426" y2="73585"/>
                        <a14:foregroundMark x1="42553" y1="50943" x2="42553" y2="79245"/>
                        <a14:foregroundMark x1="48936" y1="45283" x2="25532" y2="90566"/>
                        <a14:foregroundMark x1="51064" y1="41509" x2="42553" y2="58491"/>
                        <a14:foregroundMark x1="40426" y1="33962" x2="36170" y2="73585"/>
                        <a14:foregroundMark x1="61702" y1="39623" x2="65957" y2="47170"/>
                        <a14:foregroundMark x1="48936" y1="41509" x2="48936" y2="58491"/>
                        <a14:foregroundMark x1="57447" y1="26415" x2="70213" y2="58491"/>
                        <a14:foregroundMark x1="76107" y1="51704" x2="76596" y2="52830"/>
                        <a14:foregroundMark x1="65957" y1="28302" x2="75740" y2="50856"/>
                        <a14:foregroundMark x1="72340" y1="28639" x2="72340" y2="35849"/>
                        <a14:foregroundMark x1="83342" y1="43557" x2="87234" y2="45283"/>
                        <a14:foregroundMark x1="78723" y1="41509" x2="79642" y2="41917"/>
                        <a14:foregroundMark x1="62553" y1="7547" x2="65957" y2="15094"/>
                        <a14:foregroundMark x1="61702" y1="5660" x2="62553" y2="7547"/>
                        <a14:foregroundMark x1="75140" y1="53076" x2="97872" y2="84906"/>
                        <a14:foregroundMark x1="57447" y1="28302" x2="74911" y2="52755"/>
                        <a14:backgroundMark x1="93617" y1="22642" x2="93617" y2="22642"/>
                        <a14:backgroundMark x1="97872" y1="7547" x2="97872" y2="7547"/>
                        <a14:backgroundMark x1="97872" y1="0" x2="97872" y2="0"/>
                        <a14:backgroundMark x1="91489" y1="3774" x2="95745" y2="5660"/>
                        <a14:backgroundMark x1="91489" y1="20755" x2="97872" y2="11321"/>
                        <a14:backgroundMark x1="87234" y1="24528" x2="97872" y2="943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72131" y="1087279"/>
            <a:ext cx="447737" cy="50489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005EE1-C164-ADBF-0322-515439EAB1E3}"/>
              </a:ext>
            </a:extLst>
          </p:cNvPr>
          <p:cNvCxnSpPr>
            <a:cxnSpLocks/>
          </p:cNvCxnSpPr>
          <p:nvPr/>
        </p:nvCxnSpPr>
        <p:spPr>
          <a:xfrm flipV="1">
            <a:off x="0" y="2107198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856B20-C5AF-720B-9EC5-3072D8EFF558}"/>
              </a:ext>
            </a:extLst>
          </p:cNvPr>
          <p:cNvCxnSpPr>
            <a:cxnSpLocks/>
          </p:cNvCxnSpPr>
          <p:nvPr/>
        </p:nvCxnSpPr>
        <p:spPr>
          <a:xfrm flipV="1">
            <a:off x="-1" y="2635423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A29175B-C45D-E614-73F0-9860BF668A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73" y="1867951"/>
            <a:ext cx="2424954" cy="767472"/>
          </a:xfrm>
          <a:prstGeom prst="rect">
            <a:avLst/>
          </a:prstGeom>
        </p:spPr>
      </p:pic>
      <p:sp>
        <p:nvSpPr>
          <p:cNvPr id="21" name="Arc 20">
            <a:extLst>
              <a:ext uri="{FF2B5EF4-FFF2-40B4-BE49-F238E27FC236}">
                <a16:creationId xmlns:a16="http://schemas.microsoft.com/office/drawing/2014/main" id="{F4BBF98F-BF64-3307-74AE-D2AC25CF0A32}"/>
              </a:ext>
            </a:extLst>
          </p:cNvPr>
          <p:cNvSpPr/>
          <p:nvPr/>
        </p:nvSpPr>
        <p:spPr>
          <a:xfrm>
            <a:off x="-5197289" y="2129109"/>
            <a:ext cx="17891312" cy="15123316"/>
          </a:xfrm>
          <a:prstGeom prst="arc">
            <a:avLst>
              <a:gd name="adj1" fmla="val 16200000"/>
              <a:gd name="adj2" fmla="val 192164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410F773-FF39-F0BF-BE6F-27EF8BDC6C14}"/>
              </a:ext>
            </a:extLst>
          </p:cNvPr>
          <p:cNvSpPr/>
          <p:nvPr/>
        </p:nvSpPr>
        <p:spPr>
          <a:xfrm rot="253007">
            <a:off x="-5197290" y="2628094"/>
            <a:ext cx="17891312" cy="15123316"/>
          </a:xfrm>
          <a:prstGeom prst="arc">
            <a:avLst>
              <a:gd name="adj1" fmla="val 16200000"/>
              <a:gd name="adj2" fmla="val 1877405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3C62AE-1457-B4B9-2FC0-63939060B7B8}"/>
              </a:ext>
            </a:extLst>
          </p:cNvPr>
          <p:cNvSpPr/>
          <p:nvPr/>
        </p:nvSpPr>
        <p:spPr>
          <a:xfrm>
            <a:off x="517021" y="3429000"/>
            <a:ext cx="4649908" cy="165546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A runaway trolley is heading down a track where five people are tied up and unable to move. You are standing next to a lever that can divert the trolley onto another track where only one person is tied up. </a:t>
            </a:r>
            <a:r>
              <a:rPr lang="en-US" b="1" dirty="0">
                <a:solidFill>
                  <a:schemeClr val="tx1"/>
                </a:solidFill>
              </a:rPr>
              <a:t>Do you pull the lever?</a:t>
            </a:r>
            <a:endParaRPr lang="en-PH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538E538-9B80-6161-0049-E5AAEC8C1914}"/>
              </a:ext>
            </a:extLst>
          </p:cNvPr>
          <p:cNvSpPr txBox="1"/>
          <p:nvPr/>
        </p:nvSpPr>
        <p:spPr>
          <a:xfrm>
            <a:off x="1314450" y="5382219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YES</a:t>
            </a:r>
            <a:endParaRPr lang="en-PH" dirty="0"/>
          </a:p>
        </p:txBody>
      </p:sp>
      <p:sp>
        <p:nvSpPr>
          <p:cNvPr id="28" name="TextBox 2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A54DD834-2ECE-BF6D-9AF7-525EA5F2339B}"/>
              </a:ext>
            </a:extLst>
          </p:cNvPr>
          <p:cNvSpPr txBox="1"/>
          <p:nvPr/>
        </p:nvSpPr>
        <p:spPr>
          <a:xfrm>
            <a:off x="3019075" y="5382219"/>
            <a:ext cx="117282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  <a:endParaRPr lang="en-PH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C120C4-9D77-AF97-8094-AB2AD7FDC1F2}"/>
              </a:ext>
            </a:extLst>
          </p:cNvPr>
          <p:cNvGrpSpPr/>
          <p:nvPr/>
        </p:nvGrpSpPr>
        <p:grpSpPr>
          <a:xfrm>
            <a:off x="9156782" y="1751552"/>
            <a:ext cx="2079357" cy="1000269"/>
            <a:chOff x="8024668" y="1751550"/>
            <a:chExt cx="2079357" cy="100026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9498225-8E60-1598-EBFC-A278D6D7E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273525" y="1751554"/>
              <a:ext cx="419158" cy="100026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F47445B-CEE6-1F70-92C8-DEEAE4404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854367" y="1751553"/>
              <a:ext cx="419158" cy="100026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D4EF897-1F1E-2F29-4D77-E32013491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84867" y="1751551"/>
              <a:ext cx="419158" cy="100026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43872C5-08C0-2A7A-6342-40E2EAAE8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35209" y="1751552"/>
              <a:ext cx="419158" cy="100026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861D32D-E4C2-3B6A-18E5-895C6E1F3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24668" y="1751550"/>
              <a:ext cx="419158" cy="1000265"/>
            </a:xfrm>
            <a:prstGeom prst="rect">
              <a:avLst/>
            </a:prstGeom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D23FD9A9-557D-EDE0-3738-984284667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47203" y="3429000"/>
            <a:ext cx="419158" cy="1000265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B372BF8-9CEC-EB31-7D46-5B53019CFB14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696606" y="4665730"/>
            <a:ext cx="2495394" cy="2057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3404A24-110D-7EC9-F82B-15CF64C3E1F1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0127638" y="4389680"/>
            <a:ext cx="2064361" cy="1701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1042148-238C-7644-8E60-70EA0C97D129}"/>
              </a:ext>
            </a:extLst>
          </p:cNvPr>
          <p:cNvSpPr/>
          <p:nvPr/>
        </p:nvSpPr>
        <p:spPr>
          <a:xfrm>
            <a:off x="1508428" y="395041"/>
            <a:ext cx="2660073" cy="9254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Classic Trolley Problem</a:t>
            </a:r>
            <a:endParaRPr lang="en-PH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522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4F514C1-B1A9-E995-773C-76FCAF891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68" y="591909"/>
            <a:ext cx="419158" cy="10002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DC507E-FF02-3793-C882-41BAD16C07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774" b="94340" l="8511" r="97872">
                        <a14:foregroundMark x1="55319" y1="54717" x2="72340" y2="81132"/>
                        <a14:foregroundMark x1="76596" y1="39623" x2="65957" y2="90566"/>
                        <a14:foregroundMark x1="78723" y1="54717" x2="57447" y2="96226"/>
                        <a14:foregroundMark x1="57447" y1="35849" x2="40426" y2="73585"/>
                        <a14:foregroundMark x1="42553" y1="50943" x2="42553" y2="79245"/>
                        <a14:foregroundMark x1="48936" y1="45283" x2="25532" y2="90566"/>
                        <a14:foregroundMark x1="51064" y1="41509" x2="42553" y2="58491"/>
                        <a14:foregroundMark x1="40426" y1="33962" x2="36170" y2="73585"/>
                        <a14:foregroundMark x1="61702" y1="39623" x2="65957" y2="47170"/>
                        <a14:foregroundMark x1="48936" y1="41509" x2="48936" y2="58491"/>
                        <a14:foregroundMark x1="57447" y1="26415" x2="70213" y2="58491"/>
                        <a14:foregroundMark x1="76107" y1="51704" x2="76596" y2="52830"/>
                        <a14:foregroundMark x1="65957" y1="28302" x2="75740" y2="50856"/>
                        <a14:foregroundMark x1="72340" y1="28639" x2="72340" y2="35849"/>
                        <a14:foregroundMark x1="83342" y1="43557" x2="87234" y2="45283"/>
                        <a14:foregroundMark x1="78723" y1="41509" x2="79642" y2="41917"/>
                        <a14:foregroundMark x1="62553" y1="7547" x2="65957" y2="15094"/>
                        <a14:foregroundMark x1="61702" y1="5660" x2="62553" y2="7547"/>
                        <a14:foregroundMark x1="75140" y1="53076" x2="97872" y2="84906"/>
                        <a14:foregroundMark x1="57447" y1="28302" x2="74911" y2="52755"/>
                        <a14:backgroundMark x1="93617" y1="22642" x2="93617" y2="22642"/>
                        <a14:backgroundMark x1="97872" y1="7547" x2="97872" y2="7547"/>
                        <a14:backgroundMark x1="97872" y1="0" x2="97872" y2="0"/>
                        <a14:backgroundMark x1="91489" y1="3774" x2="95745" y2="5660"/>
                        <a14:backgroundMark x1="91489" y1="20755" x2="97872" y2="11321"/>
                        <a14:backgroundMark x1="87234" y1="24528" x2="97872" y2="943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72131" y="1087279"/>
            <a:ext cx="447737" cy="50489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005EE1-C164-ADBF-0322-515439EAB1E3}"/>
              </a:ext>
            </a:extLst>
          </p:cNvPr>
          <p:cNvCxnSpPr>
            <a:cxnSpLocks/>
          </p:cNvCxnSpPr>
          <p:nvPr/>
        </p:nvCxnSpPr>
        <p:spPr>
          <a:xfrm flipV="1">
            <a:off x="0" y="2107198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856B20-C5AF-720B-9EC5-3072D8EFF558}"/>
              </a:ext>
            </a:extLst>
          </p:cNvPr>
          <p:cNvCxnSpPr>
            <a:cxnSpLocks/>
          </p:cNvCxnSpPr>
          <p:nvPr/>
        </p:nvCxnSpPr>
        <p:spPr>
          <a:xfrm flipV="1">
            <a:off x="-1" y="2635423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A29175B-C45D-E614-73F0-9860BF668A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73" y="1867951"/>
            <a:ext cx="2424954" cy="767472"/>
          </a:xfrm>
          <a:prstGeom prst="rect">
            <a:avLst/>
          </a:prstGeom>
        </p:spPr>
      </p:pic>
      <p:sp>
        <p:nvSpPr>
          <p:cNvPr id="21" name="Arc 20">
            <a:extLst>
              <a:ext uri="{FF2B5EF4-FFF2-40B4-BE49-F238E27FC236}">
                <a16:creationId xmlns:a16="http://schemas.microsoft.com/office/drawing/2014/main" id="{F4BBF98F-BF64-3307-74AE-D2AC25CF0A32}"/>
              </a:ext>
            </a:extLst>
          </p:cNvPr>
          <p:cNvSpPr/>
          <p:nvPr/>
        </p:nvSpPr>
        <p:spPr>
          <a:xfrm>
            <a:off x="-5197289" y="2129109"/>
            <a:ext cx="17891312" cy="15123316"/>
          </a:xfrm>
          <a:prstGeom prst="arc">
            <a:avLst>
              <a:gd name="adj1" fmla="val 16200000"/>
              <a:gd name="adj2" fmla="val 192164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410F773-FF39-F0BF-BE6F-27EF8BDC6C14}"/>
              </a:ext>
            </a:extLst>
          </p:cNvPr>
          <p:cNvSpPr/>
          <p:nvPr/>
        </p:nvSpPr>
        <p:spPr>
          <a:xfrm rot="253007">
            <a:off x="-5197290" y="2628094"/>
            <a:ext cx="17891312" cy="15123316"/>
          </a:xfrm>
          <a:prstGeom prst="arc">
            <a:avLst>
              <a:gd name="adj1" fmla="val 16200000"/>
              <a:gd name="adj2" fmla="val 1877405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3C62AE-1457-B4B9-2FC0-63939060B7B8}"/>
              </a:ext>
            </a:extLst>
          </p:cNvPr>
          <p:cNvSpPr/>
          <p:nvPr/>
        </p:nvSpPr>
        <p:spPr>
          <a:xfrm>
            <a:off x="517021" y="3429000"/>
            <a:ext cx="4649908" cy="165546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A runaway trolley is heading down a track where five people are tied up and unable to move. You are standing next to a lever that can divert the trolley onto another track where only one person is tied up. </a:t>
            </a:r>
            <a:r>
              <a:rPr lang="en-US" b="1" dirty="0">
                <a:solidFill>
                  <a:schemeClr val="tx1"/>
                </a:solidFill>
              </a:rPr>
              <a:t>Do you pull the lever?</a:t>
            </a:r>
            <a:endParaRPr lang="en-PH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38E538-9B80-6161-0049-E5AAEC8C1914}"/>
              </a:ext>
            </a:extLst>
          </p:cNvPr>
          <p:cNvSpPr txBox="1"/>
          <p:nvPr/>
        </p:nvSpPr>
        <p:spPr>
          <a:xfrm>
            <a:off x="1314450" y="5382219"/>
            <a:ext cx="117282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YES</a:t>
            </a:r>
            <a:endParaRPr lang="en-PH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4DD834-2ECE-BF6D-9AF7-525EA5F2339B}"/>
              </a:ext>
            </a:extLst>
          </p:cNvPr>
          <p:cNvSpPr txBox="1"/>
          <p:nvPr/>
        </p:nvSpPr>
        <p:spPr>
          <a:xfrm>
            <a:off x="3019075" y="5382219"/>
            <a:ext cx="117282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  <a:endParaRPr lang="en-PH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23FD9A9-557D-EDE0-3738-984284667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47203" y="3429000"/>
            <a:ext cx="419158" cy="100026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04C120C4-9D77-AF97-8094-AB2AD7FDC1F2}"/>
              </a:ext>
            </a:extLst>
          </p:cNvPr>
          <p:cNvGrpSpPr/>
          <p:nvPr/>
        </p:nvGrpSpPr>
        <p:grpSpPr>
          <a:xfrm>
            <a:off x="9156782" y="1751552"/>
            <a:ext cx="2079357" cy="1000269"/>
            <a:chOff x="8024668" y="1751550"/>
            <a:chExt cx="2079357" cy="100026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9498225-8E60-1598-EBFC-A278D6D7E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273525" y="1751554"/>
              <a:ext cx="419158" cy="100026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F47445B-CEE6-1F70-92C8-DEEAE4404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854367" y="1751553"/>
              <a:ext cx="419158" cy="100026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D4EF897-1F1E-2F29-4D77-E32013491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84867" y="1751551"/>
              <a:ext cx="419158" cy="100026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43872C5-08C0-2A7A-6342-40E2EAAE8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35209" y="1751552"/>
              <a:ext cx="419158" cy="100026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861D32D-E4C2-3B6A-18E5-895C6E1F3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24668" y="1751550"/>
              <a:ext cx="419158" cy="1000265"/>
            </a:xfrm>
            <a:prstGeom prst="rect">
              <a:avLst/>
            </a:prstGeom>
          </p:spPr>
        </p:pic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B372BF8-9CEC-EB31-7D46-5B53019CFB14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696606" y="4665730"/>
            <a:ext cx="2495394" cy="2057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3404A24-110D-7EC9-F82B-15CF64C3E1F1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0127638" y="4389680"/>
            <a:ext cx="2064361" cy="1701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6B257EC-C4A4-0AFC-A306-4ABE41C90906}"/>
              </a:ext>
            </a:extLst>
          </p:cNvPr>
          <p:cNvSpPr txBox="1"/>
          <p:nvPr/>
        </p:nvSpPr>
        <p:spPr>
          <a:xfrm>
            <a:off x="3319063" y="6158280"/>
            <a:ext cx="579188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78% of people agree with you, 22% disagree (979,295 votes)</a:t>
            </a:r>
            <a:endParaRPr lang="en-PH" dirty="0"/>
          </a:p>
        </p:txBody>
      </p:sp>
      <p:sp>
        <p:nvSpPr>
          <p:cNvPr id="3" name="TextBox 2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0D41B143-93F6-0D83-7A73-AA8696F20E77}"/>
              </a:ext>
            </a:extLst>
          </p:cNvPr>
          <p:cNvSpPr txBox="1"/>
          <p:nvPr/>
        </p:nvSpPr>
        <p:spPr>
          <a:xfrm>
            <a:off x="5943033" y="5325339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RESET</a:t>
            </a:r>
            <a:endParaRPr lang="en-PH" dirty="0"/>
          </a:p>
        </p:txBody>
      </p:sp>
      <p:sp>
        <p:nvSpPr>
          <p:cNvPr id="4" name="TextBox 3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4DFFADC6-C2B8-25A9-A85D-48F044A032D0}"/>
              </a:ext>
            </a:extLst>
          </p:cNvPr>
          <p:cNvSpPr txBox="1"/>
          <p:nvPr/>
        </p:nvSpPr>
        <p:spPr>
          <a:xfrm>
            <a:off x="9394767" y="6158280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</a:t>
            </a:r>
            <a:endParaRPr lang="en-P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E9E34B-7A61-CE8D-ED2E-56DC65F4FFB6}"/>
              </a:ext>
            </a:extLst>
          </p:cNvPr>
          <p:cNvSpPr/>
          <p:nvPr/>
        </p:nvSpPr>
        <p:spPr>
          <a:xfrm>
            <a:off x="1508428" y="395041"/>
            <a:ext cx="2660073" cy="9254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Classic Trolley Problem</a:t>
            </a:r>
            <a:endParaRPr lang="en-PH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993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01088 L 0.11276 0.01458 L 0.23073 0.01458 L 0.28477 0.02454 L 0.36862 0.05579 L 0.45899 0.08912 L 0.49323 0.11667 L 0.5461 0.15394 L 0.60456 0.2088 L 0.64987 0.25972 L 0.68177 0.29907 L 0.71485 0.35 L 0.7612 0.41273 L 0.78776 0.45208 " pathEditMode="relative" ptsTypes="AAAAAAAAAAAA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4F514C1-B1A9-E995-773C-76FCAF891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68" y="591909"/>
            <a:ext cx="419158" cy="10002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DC507E-FF02-3793-C882-41BAD16C07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774" b="94340" l="8511" r="97872">
                        <a14:foregroundMark x1="55319" y1="54717" x2="72340" y2="81132"/>
                        <a14:foregroundMark x1="76596" y1="39623" x2="65957" y2="90566"/>
                        <a14:foregroundMark x1="78723" y1="54717" x2="57447" y2="96226"/>
                        <a14:foregroundMark x1="57447" y1="35849" x2="40426" y2="73585"/>
                        <a14:foregroundMark x1="42553" y1="50943" x2="42553" y2="79245"/>
                        <a14:foregroundMark x1="48936" y1="45283" x2="25532" y2="90566"/>
                        <a14:foregroundMark x1="51064" y1="41509" x2="42553" y2="58491"/>
                        <a14:foregroundMark x1="40426" y1="33962" x2="36170" y2="73585"/>
                        <a14:foregroundMark x1="61702" y1="39623" x2="65957" y2="47170"/>
                        <a14:foregroundMark x1="48936" y1="41509" x2="48936" y2="58491"/>
                        <a14:foregroundMark x1="57447" y1="26415" x2="70213" y2="58491"/>
                        <a14:foregroundMark x1="76107" y1="51704" x2="76596" y2="52830"/>
                        <a14:foregroundMark x1="65957" y1="28302" x2="75740" y2="50856"/>
                        <a14:foregroundMark x1="72340" y1="28639" x2="72340" y2="35849"/>
                        <a14:foregroundMark x1="83342" y1="43557" x2="87234" y2="45283"/>
                        <a14:foregroundMark x1="78723" y1="41509" x2="79642" y2="41917"/>
                        <a14:foregroundMark x1="62553" y1="7547" x2="65957" y2="15094"/>
                        <a14:foregroundMark x1="61702" y1="5660" x2="62553" y2="7547"/>
                        <a14:foregroundMark x1="75140" y1="53076" x2="97872" y2="84906"/>
                        <a14:foregroundMark x1="57447" y1="28302" x2="74911" y2="52755"/>
                        <a14:backgroundMark x1="93617" y1="22642" x2="93617" y2="22642"/>
                        <a14:backgroundMark x1="97872" y1="7547" x2="97872" y2="7547"/>
                        <a14:backgroundMark x1="97872" y1="0" x2="97872" y2="0"/>
                        <a14:backgroundMark x1="91489" y1="3774" x2="95745" y2="5660"/>
                        <a14:backgroundMark x1="91489" y1="20755" x2="97872" y2="11321"/>
                        <a14:backgroundMark x1="87234" y1="24528" x2="97872" y2="943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72131" y="1087279"/>
            <a:ext cx="447737" cy="50489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005EE1-C164-ADBF-0322-515439EAB1E3}"/>
              </a:ext>
            </a:extLst>
          </p:cNvPr>
          <p:cNvCxnSpPr>
            <a:cxnSpLocks/>
          </p:cNvCxnSpPr>
          <p:nvPr/>
        </p:nvCxnSpPr>
        <p:spPr>
          <a:xfrm flipV="1">
            <a:off x="0" y="2107198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856B20-C5AF-720B-9EC5-3072D8EFF558}"/>
              </a:ext>
            </a:extLst>
          </p:cNvPr>
          <p:cNvCxnSpPr>
            <a:cxnSpLocks/>
          </p:cNvCxnSpPr>
          <p:nvPr/>
        </p:nvCxnSpPr>
        <p:spPr>
          <a:xfrm flipV="1">
            <a:off x="-1" y="2635423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c 20">
            <a:extLst>
              <a:ext uri="{FF2B5EF4-FFF2-40B4-BE49-F238E27FC236}">
                <a16:creationId xmlns:a16="http://schemas.microsoft.com/office/drawing/2014/main" id="{F4BBF98F-BF64-3307-74AE-D2AC25CF0A32}"/>
              </a:ext>
            </a:extLst>
          </p:cNvPr>
          <p:cNvSpPr/>
          <p:nvPr/>
        </p:nvSpPr>
        <p:spPr>
          <a:xfrm>
            <a:off x="-5197289" y="2129109"/>
            <a:ext cx="17891312" cy="15123316"/>
          </a:xfrm>
          <a:prstGeom prst="arc">
            <a:avLst>
              <a:gd name="adj1" fmla="val 16200000"/>
              <a:gd name="adj2" fmla="val 192164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410F773-FF39-F0BF-BE6F-27EF8BDC6C14}"/>
              </a:ext>
            </a:extLst>
          </p:cNvPr>
          <p:cNvSpPr/>
          <p:nvPr/>
        </p:nvSpPr>
        <p:spPr>
          <a:xfrm rot="253007">
            <a:off x="-5197290" y="2628094"/>
            <a:ext cx="17891312" cy="15123316"/>
          </a:xfrm>
          <a:prstGeom prst="arc">
            <a:avLst>
              <a:gd name="adj1" fmla="val 16200000"/>
              <a:gd name="adj2" fmla="val 1877405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3C62AE-1457-B4B9-2FC0-63939060B7B8}"/>
              </a:ext>
            </a:extLst>
          </p:cNvPr>
          <p:cNvSpPr/>
          <p:nvPr/>
        </p:nvSpPr>
        <p:spPr>
          <a:xfrm>
            <a:off x="517021" y="3429000"/>
            <a:ext cx="4649908" cy="165546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A runaway trolley is heading down a track where five people are tied up and unable to move. You are standing next to a lever that can divert the trolley onto another track where only one person is tied up. </a:t>
            </a:r>
            <a:r>
              <a:rPr lang="en-US" b="1" dirty="0">
                <a:solidFill>
                  <a:schemeClr val="tx1"/>
                </a:solidFill>
              </a:rPr>
              <a:t>Do you pull the lever?</a:t>
            </a:r>
            <a:endParaRPr lang="en-PH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38E538-9B80-6161-0049-E5AAEC8C1914}"/>
              </a:ext>
            </a:extLst>
          </p:cNvPr>
          <p:cNvSpPr txBox="1"/>
          <p:nvPr/>
        </p:nvSpPr>
        <p:spPr>
          <a:xfrm>
            <a:off x="1314450" y="5382219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YES</a:t>
            </a:r>
            <a:endParaRPr lang="en-PH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4DD834-2ECE-BF6D-9AF7-525EA5F2339B}"/>
              </a:ext>
            </a:extLst>
          </p:cNvPr>
          <p:cNvSpPr txBox="1"/>
          <p:nvPr/>
        </p:nvSpPr>
        <p:spPr>
          <a:xfrm>
            <a:off x="3019075" y="5382219"/>
            <a:ext cx="11728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  <a:endParaRPr lang="en-PH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C120C4-9D77-AF97-8094-AB2AD7FDC1F2}"/>
              </a:ext>
            </a:extLst>
          </p:cNvPr>
          <p:cNvGrpSpPr/>
          <p:nvPr/>
        </p:nvGrpSpPr>
        <p:grpSpPr>
          <a:xfrm>
            <a:off x="9156782" y="1751552"/>
            <a:ext cx="2079357" cy="1000269"/>
            <a:chOff x="8024668" y="1751550"/>
            <a:chExt cx="2079357" cy="100026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9498225-8E60-1598-EBFC-A278D6D7E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273525" y="1751554"/>
              <a:ext cx="419158" cy="100026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F47445B-CEE6-1F70-92C8-DEEAE4404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854367" y="1751553"/>
              <a:ext cx="419158" cy="100026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D4EF897-1F1E-2F29-4D77-E32013491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84867" y="1751551"/>
              <a:ext cx="419158" cy="100026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43872C5-08C0-2A7A-6342-40E2EAAE8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35209" y="1751552"/>
              <a:ext cx="419158" cy="100026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861D32D-E4C2-3B6A-18E5-895C6E1F3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24668" y="1751550"/>
              <a:ext cx="419158" cy="1000265"/>
            </a:xfrm>
            <a:prstGeom prst="rect">
              <a:avLst/>
            </a:prstGeom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D23FD9A9-557D-EDE0-3738-984284667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47203" y="3429000"/>
            <a:ext cx="419158" cy="1000265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B372BF8-9CEC-EB31-7D46-5B53019CFB14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696606" y="4665730"/>
            <a:ext cx="2495394" cy="2057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3404A24-110D-7EC9-F82B-15CF64C3E1F1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0127638" y="4389680"/>
            <a:ext cx="2064361" cy="1701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A29175B-C45D-E614-73F0-9860BF668A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73" y="1867951"/>
            <a:ext cx="2424954" cy="7674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AE1880-B987-7F21-C38B-403F3124AA07}"/>
              </a:ext>
            </a:extLst>
          </p:cNvPr>
          <p:cNvSpPr txBox="1"/>
          <p:nvPr/>
        </p:nvSpPr>
        <p:spPr>
          <a:xfrm>
            <a:off x="3321424" y="6158280"/>
            <a:ext cx="578952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22% of people disagree with you, 78% agree (979,295 votes)</a:t>
            </a:r>
            <a:endParaRPr lang="en-PH" dirty="0"/>
          </a:p>
        </p:txBody>
      </p:sp>
      <p:sp>
        <p:nvSpPr>
          <p:cNvPr id="4" name="TextBox 3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A9FB4455-795E-52B9-7993-40B063C73AF2}"/>
              </a:ext>
            </a:extLst>
          </p:cNvPr>
          <p:cNvSpPr txBox="1"/>
          <p:nvPr/>
        </p:nvSpPr>
        <p:spPr>
          <a:xfrm>
            <a:off x="5943033" y="5325339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RESET</a:t>
            </a:r>
            <a:endParaRPr lang="en-PH" dirty="0"/>
          </a:p>
        </p:txBody>
      </p:sp>
      <p:sp>
        <p:nvSpPr>
          <p:cNvPr id="5" name="TextBox 4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102FA192-5A7A-7627-72F2-8D97642C90F2}"/>
              </a:ext>
            </a:extLst>
          </p:cNvPr>
          <p:cNvSpPr txBox="1"/>
          <p:nvPr/>
        </p:nvSpPr>
        <p:spPr>
          <a:xfrm>
            <a:off x="9394767" y="6158280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</a:t>
            </a:r>
            <a:endParaRPr lang="en-P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530291-459D-5C25-57C3-C385772C0273}"/>
              </a:ext>
            </a:extLst>
          </p:cNvPr>
          <p:cNvSpPr/>
          <p:nvPr/>
        </p:nvSpPr>
        <p:spPr>
          <a:xfrm>
            <a:off x="1508428" y="395041"/>
            <a:ext cx="2660073" cy="9254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Classic Trolley Problem</a:t>
            </a:r>
            <a:endParaRPr lang="en-PH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673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00509 L 0.77943 0.0090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10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4F514C1-B1A9-E995-773C-76FCAF891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79527" y="645697"/>
            <a:ext cx="419158" cy="100026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005EE1-C164-ADBF-0322-515439EAB1E3}"/>
              </a:ext>
            </a:extLst>
          </p:cNvPr>
          <p:cNvCxnSpPr>
            <a:cxnSpLocks/>
          </p:cNvCxnSpPr>
          <p:nvPr/>
        </p:nvCxnSpPr>
        <p:spPr>
          <a:xfrm flipV="1">
            <a:off x="0" y="2725760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856B20-C5AF-720B-9EC5-3072D8EFF558}"/>
              </a:ext>
            </a:extLst>
          </p:cNvPr>
          <p:cNvCxnSpPr>
            <a:cxnSpLocks/>
          </p:cNvCxnSpPr>
          <p:nvPr/>
        </p:nvCxnSpPr>
        <p:spPr>
          <a:xfrm flipV="1">
            <a:off x="-1" y="3253985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93C62AE-1457-B4B9-2FC0-63939060B7B8}"/>
              </a:ext>
            </a:extLst>
          </p:cNvPr>
          <p:cNvSpPr/>
          <p:nvPr/>
        </p:nvSpPr>
        <p:spPr>
          <a:xfrm>
            <a:off x="517021" y="3645144"/>
            <a:ext cx="4649908" cy="205788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Similar to the classic scenario, but instead of a lever, you are standing on a footbridge overlooking the track. There is a large person next to you, and the only way to stop the trolley is to push this person onto the track below, sacrificing them to save the five people. </a:t>
            </a:r>
            <a:r>
              <a:rPr lang="en-US" b="1" dirty="0">
                <a:solidFill>
                  <a:schemeClr val="tx1"/>
                </a:solidFill>
              </a:rPr>
              <a:t>Do you push the person?</a:t>
            </a:r>
            <a:endParaRPr lang="en-PH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538E538-9B80-6161-0049-E5AAEC8C1914}"/>
              </a:ext>
            </a:extLst>
          </p:cNvPr>
          <p:cNvSpPr txBox="1"/>
          <p:nvPr/>
        </p:nvSpPr>
        <p:spPr>
          <a:xfrm>
            <a:off x="1314450" y="6000781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YES</a:t>
            </a:r>
            <a:endParaRPr lang="en-PH" dirty="0"/>
          </a:p>
        </p:txBody>
      </p:sp>
      <p:sp>
        <p:nvSpPr>
          <p:cNvPr id="28" name="TextBox 2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54DD834-2ECE-BF6D-9AF7-525EA5F2339B}"/>
              </a:ext>
            </a:extLst>
          </p:cNvPr>
          <p:cNvSpPr txBox="1"/>
          <p:nvPr/>
        </p:nvSpPr>
        <p:spPr>
          <a:xfrm>
            <a:off x="3019075" y="6000781"/>
            <a:ext cx="117282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  <a:endParaRPr lang="en-PH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C120C4-9D77-AF97-8094-AB2AD7FDC1F2}"/>
              </a:ext>
            </a:extLst>
          </p:cNvPr>
          <p:cNvGrpSpPr/>
          <p:nvPr/>
        </p:nvGrpSpPr>
        <p:grpSpPr>
          <a:xfrm>
            <a:off x="9156782" y="2370114"/>
            <a:ext cx="2079357" cy="1000269"/>
            <a:chOff x="8024668" y="1751550"/>
            <a:chExt cx="2079357" cy="100026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9498225-8E60-1598-EBFC-A278D6D7E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273525" y="1751554"/>
              <a:ext cx="419158" cy="100026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F47445B-CEE6-1F70-92C8-DEEAE4404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854367" y="1751553"/>
              <a:ext cx="419158" cy="100026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D4EF897-1F1E-2F29-4D77-E32013491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84867" y="1751551"/>
              <a:ext cx="419158" cy="100026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43872C5-08C0-2A7A-6342-40E2EAAE8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35209" y="1751552"/>
              <a:ext cx="419158" cy="100026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861D32D-E4C2-3B6A-18E5-895C6E1F3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24668" y="1751550"/>
              <a:ext cx="419158" cy="1000265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A29175B-C45D-E614-73F0-9860BF668A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73" y="2486513"/>
            <a:ext cx="2424954" cy="7674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E87C39-E2DC-7887-0DCC-05E7AABDA451}"/>
              </a:ext>
            </a:extLst>
          </p:cNvPr>
          <p:cNvSpPr/>
          <p:nvPr/>
        </p:nvSpPr>
        <p:spPr>
          <a:xfrm>
            <a:off x="1508428" y="395041"/>
            <a:ext cx="2660073" cy="9254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The Footbridge Scenario</a:t>
            </a:r>
            <a:endParaRPr lang="en-PH" sz="28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Premium Vector | Simple vector fat stick man stickman stand isolated on  white">
            <a:extLst>
              <a:ext uri="{FF2B5EF4-FFF2-40B4-BE49-F238E27FC236}">
                <a16:creationId xmlns:a16="http://schemas.microsoft.com/office/drawing/2014/main" id="{70B6A6ED-D02F-388B-5660-5F2674A70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04" b="93291" l="9904" r="89936">
                        <a14:foregroundMark x1="38658" y1="93291" x2="38658" y2="93291"/>
                        <a14:foregroundMark x1="52556" y1="16613" x2="52556" y2="16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452620" y="539898"/>
            <a:ext cx="1167503" cy="116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133,876 Pedestrian Bridge Images, Stock Photos, 3D objects, &amp; Vectors |  Shutterstock">
            <a:extLst>
              <a:ext uri="{FF2B5EF4-FFF2-40B4-BE49-F238E27FC236}">
                <a16:creationId xmlns:a16="http://schemas.microsoft.com/office/drawing/2014/main" id="{E84DDD4E-118D-8AB9-BAA1-3C63F395A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2143" l="775" r="99225">
                        <a14:foregroundMark x1="8527" y1="86786" x2="8527" y2="86786"/>
                        <a14:foregroundMark x1="1240" y1="85714" x2="1240" y2="85714"/>
                        <a14:foregroundMark x1="23256" y1="92143" x2="23256" y2="92143"/>
                        <a14:foregroundMark x1="94884" y1="86071" x2="94884" y2="86071"/>
                        <a14:foregroundMark x1="99225" y1="86429" x2="99225" y2="86429"/>
                        <a14:backgroundMark x1="20310" y1="50357" x2="20310" y2="50357"/>
                        <a14:backgroundMark x1="34419" y1="50357" x2="34419" y2="50357"/>
                        <a14:backgroundMark x1="35659" y1="50357" x2="35659" y2="50357"/>
                        <a14:backgroundMark x1="49767" y1="50714" x2="49767" y2="50714"/>
                        <a14:backgroundMark x1="50853" y1="50357" x2="50853" y2="50357"/>
                        <a14:backgroundMark x1="64961" y1="50714" x2="64961" y2="50714"/>
                        <a14:backgroundMark x1="66512" y1="50714" x2="66512" y2="50714"/>
                        <a14:backgroundMark x1="80465" y1="50357" x2="80465" y2="503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414" y="538164"/>
            <a:ext cx="4831974" cy="20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261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4F514C1-B1A9-E995-773C-76FCAF891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79527" y="645697"/>
            <a:ext cx="419158" cy="100026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005EE1-C164-ADBF-0322-515439EAB1E3}"/>
              </a:ext>
            </a:extLst>
          </p:cNvPr>
          <p:cNvCxnSpPr>
            <a:cxnSpLocks/>
          </p:cNvCxnSpPr>
          <p:nvPr/>
        </p:nvCxnSpPr>
        <p:spPr>
          <a:xfrm flipV="1">
            <a:off x="0" y="2725760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856B20-C5AF-720B-9EC5-3072D8EFF558}"/>
              </a:ext>
            </a:extLst>
          </p:cNvPr>
          <p:cNvCxnSpPr>
            <a:cxnSpLocks/>
          </p:cNvCxnSpPr>
          <p:nvPr/>
        </p:nvCxnSpPr>
        <p:spPr>
          <a:xfrm flipV="1">
            <a:off x="-1" y="3253985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93C62AE-1457-B4B9-2FC0-63939060B7B8}"/>
              </a:ext>
            </a:extLst>
          </p:cNvPr>
          <p:cNvSpPr/>
          <p:nvPr/>
        </p:nvSpPr>
        <p:spPr>
          <a:xfrm>
            <a:off x="517021" y="3645144"/>
            <a:ext cx="4649908" cy="205788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Similar to the classic scenario, but instead of a lever, you are standing on a footbridge overlooking the track. There is a large person next to you, and the only way to stop the trolley is to push this person onto the track below, sacrificing them to save the five people. </a:t>
            </a:r>
            <a:r>
              <a:rPr lang="en-US" b="1" dirty="0">
                <a:solidFill>
                  <a:schemeClr val="tx1"/>
                </a:solidFill>
              </a:rPr>
              <a:t>Do you push the person?</a:t>
            </a:r>
            <a:endParaRPr lang="en-PH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38E538-9B80-6161-0049-E5AAEC8C1914}"/>
              </a:ext>
            </a:extLst>
          </p:cNvPr>
          <p:cNvSpPr txBox="1"/>
          <p:nvPr/>
        </p:nvSpPr>
        <p:spPr>
          <a:xfrm>
            <a:off x="1314450" y="6000781"/>
            <a:ext cx="117282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YES</a:t>
            </a:r>
            <a:endParaRPr lang="en-PH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4DD834-2ECE-BF6D-9AF7-525EA5F2339B}"/>
              </a:ext>
            </a:extLst>
          </p:cNvPr>
          <p:cNvSpPr txBox="1"/>
          <p:nvPr/>
        </p:nvSpPr>
        <p:spPr>
          <a:xfrm>
            <a:off x="3019075" y="6000781"/>
            <a:ext cx="117282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  <a:endParaRPr lang="en-PH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C120C4-9D77-AF97-8094-AB2AD7FDC1F2}"/>
              </a:ext>
            </a:extLst>
          </p:cNvPr>
          <p:cNvGrpSpPr/>
          <p:nvPr/>
        </p:nvGrpSpPr>
        <p:grpSpPr>
          <a:xfrm>
            <a:off x="9156782" y="2370114"/>
            <a:ext cx="2079357" cy="1000269"/>
            <a:chOff x="8024668" y="1751550"/>
            <a:chExt cx="2079357" cy="100026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9498225-8E60-1598-EBFC-A278D6D7E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273525" y="1751554"/>
              <a:ext cx="419158" cy="100026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F47445B-CEE6-1F70-92C8-DEEAE4404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854367" y="1751553"/>
              <a:ext cx="419158" cy="100026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D4EF897-1F1E-2F29-4D77-E32013491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84867" y="1751551"/>
              <a:ext cx="419158" cy="100026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43872C5-08C0-2A7A-6342-40E2EAAE8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35209" y="1751552"/>
              <a:ext cx="419158" cy="100026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861D32D-E4C2-3B6A-18E5-895C6E1F3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24668" y="1751550"/>
              <a:ext cx="419158" cy="1000265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A29175B-C45D-E614-73F0-9860BF668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73" y="2486513"/>
            <a:ext cx="2424954" cy="7674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E87C39-E2DC-7887-0DCC-05E7AABDA451}"/>
              </a:ext>
            </a:extLst>
          </p:cNvPr>
          <p:cNvSpPr/>
          <p:nvPr/>
        </p:nvSpPr>
        <p:spPr>
          <a:xfrm>
            <a:off x="1508428" y="395041"/>
            <a:ext cx="2660073" cy="9254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The Footbridge Scenario</a:t>
            </a:r>
            <a:endParaRPr lang="en-PH" sz="28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Premium Vector | Simple vector fat stick man stickman stand isolated on  white">
            <a:extLst>
              <a:ext uri="{FF2B5EF4-FFF2-40B4-BE49-F238E27FC236}">
                <a16:creationId xmlns:a16="http://schemas.microsoft.com/office/drawing/2014/main" id="{70B6A6ED-D02F-388B-5660-5F2674A70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04" b="93291" l="9904" r="89936">
                        <a14:foregroundMark x1="38658" y1="93291" x2="38658" y2="93291"/>
                        <a14:foregroundMark x1="52556" y1="16613" x2="52556" y2="16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452620" y="539898"/>
            <a:ext cx="1167503" cy="116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133,876 Pedestrian Bridge Images, Stock Photos, 3D objects, &amp; Vectors |  Shutterstock">
            <a:extLst>
              <a:ext uri="{FF2B5EF4-FFF2-40B4-BE49-F238E27FC236}">
                <a16:creationId xmlns:a16="http://schemas.microsoft.com/office/drawing/2014/main" id="{E84DDD4E-118D-8AB9-BAA1-3C63F395A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2143" l="775" r="99225">
                        <a14:foregroundMark x1="8527" y1="86786" x2="8527" y2="86786"/>
                        <a14:foregroundMark x1="1240" y1="85714" x2="1240" y2="85714"/>
                        <a14:foregroundMark x1="23256" y1="92143" x2="23256" y2="92143"/>
                        <a14:foregroundMark x1="94884" y1="86071" x2="94884" y2="86071"/>
                        <a14:foregroundMark x1="99225" y1="86429" x2="99225" y2="86429"/>
                        <a14:backgroundMark x1="20310" y1="50357" x2="20310" y2="50357"/>
                        <a14:backgroundMark x1="34419" y1="50357" x2="34419" y2="50357"/>
                        <a14:backgroundMark x1="35659" y1="50357" x2="35659" y2="50357"/>
                        <a14:backgroundMark x1="49767" y1="50714" x2="49767" y2="50714"/>
                        <a14:backgroundMark x1="50853" y1="50357" x2="50853" y2="50357"/>
                        <a14:backgroundMark x1="64961" y1="50714" x2="64961" y2="50714"/>
                        <a14:backgroundMark x1="66512" y1="50714" x2="66512" y2="50714"/>
                        <a14:backgroundMark x1="80465" y1="50357" x2="80465" y2="503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414" y="538164"/>
            <a:ext cx="4831974" cy="20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9012EF-01C4-FBCF-C44E-9EE4EC69B7FD}"/>
              </a:ext>
            </a:extLst>
          </p:cNvPr>
          <p:cNvSpPr txBox="1"/>
          <p:nvPr/>
        </p:nvSpPr>
        <p:spPr>
          <a:xfrm>
            <a:off x="5883091" y="4599076"/>
            <a:ext cx="579188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58% of people agree with you, 42% disagree (919,376 votes)</a:t>
            </a:r>
            <a:endParaRPr lang="en-PH" dirty="0"/>
          </a:p>
        </p:txBody>
      </p:sp>
      <p:sp>
        <p:nvSpPr>
          <p:cNvPr id="3" name="TextBox 2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A71CD779-32B4-1CCF-72C6-CCB5A199E7E7}"/>
              </a:ext>
            </a:extLst>
          </p:cNvPr>
          <p:cNvSpPr txBox="1"/>
          <p:nvPr/>
        </p:nvSpPr>
        <p:spPr>
          <a:xfrm>
            <a:off x="7374697" y="5333694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RESET</a:t>
            </a:r>
            <a:endParaRPr lang="en-PH" dirty="0"/>
          </a:p>
        </p:txBody>
      </p:sp>
      <p:sp>
        <p:nvSpPr>
          <p:cNvPr id="4" name="TextBox 3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7796B27B-0DC0-4344-079F-99507308330D}"/>
              </a:ext>
            </a:extLst>
          </p:cNvPr>
          <p:cNvSpPr txBox="1"/>
          <p:nvPr/>
        </p:nvSpPr>
        <p:spPr>
          <a:xfrm>
            <a:off x="8989526" y="5338760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08476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00509 L 0.3444 0.0050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5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8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4F514C1-B1A9-E995-773C-76FCAF891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79527" y="645697"/>
            <a:ext cx="419158" cy="100026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005EE1-C164-ADBF-0322-515439EAB1E3}"/>
              </a:ext>
            </a:extLst>
          </p:cNvPr>
          <p:cNvCxnSpPr>
            <a:cxnSpLocks/>
          </p:cNvCxnSpPr>
          <p:nvPr/>
        </p:nvCxnSpPr>
        <p:spPr>
          <a:xfrm flipV="1">
            <a:off x="0" y="2725760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856B20-C5AF-720B-9EC5-3072D8EFF558}"/>
              </a:ext>
            </a:extLst>
          </p:cNvPr>
          <p:cNvCxnSpPr>
            <a:cxnSpLocks/>
          </p:cNvCxnSpPr>
          <p:nvPr/>
        </p:nvCxnSpPr>
        <p:spPr>
          <a:xfrm flipV="1">
            <a:off x="-1" y="3253985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93C62AE-1457-B4B9-2FC0-63939060B7B8}"/>
              </a:ext>
            </a:extLst>
          </p:cNvPr>
          <p:cNvSpPr/>
          <p:nvPr/>
        </p:nvSpPr>
        <p:spPr>
          <a:xfrm>
            <a:off x="517021" y="3645144"/>
            <a:ext cx="4649908" cy="205788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Similar to the classic scenario, but instead of a lever, you are standing on a footbridge overlooking the track. There is a large person next to you, and the only way to stop the trolley is to push this person onto the track below, sacrificing them to save the five people. </a:t>
            </a:r>
            <a:r>
              <a:rPr lang="en-US" b="1" dirty="0">
                <a:solidFill>
                  <a:schemeClr val="tx1"/>
                </a:solidFill>
              </a:rPr>
              <a:t>Do you push the person?</a:t>
            </a:r>
            <a:endParaRPr lang="en-PH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38E538-9B80-6161-0049-E5AAEC8C1914}"/>
              </a:ext>
            </a:extLst>
          </p:cNvPr>
          <p:cNvSpPr txBox="1"/>
          <p:nvPr/>
        </p:nvSpPr>
        <p:spPr>
          <a:xfrm>
            <a:off x="1314450" y="6000781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YES</a:t>
            </a:r>
            <a:endParaRPr lang="en-PH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4DD834-2ECE-BF6D-9AF7-525EA5F2339B}"/>
              </a:ext>
            </a:extLst>
          </p:cNvPr>
          <p:cNvSpPr txBox="1"/>
          <p:nvPr/>
        </p:nvSpPr>
        <p:spPr>
          <a:xfrm>
            <a:off x="3019075" y="6000781"/>
            <a:ext cx="11728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  <a:endParaRPr lang="en-PH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C120C4-9D77-AF97-8094-AB2AD7FDC1F2}"/>
              </a:ext>
            </a:extLst>
          </p:cNvPr>
          <p:cNvGrpSpPr/>
          <p:nvPr/>
        </p:nvGrpSpPr>
        <p:grpSpPr>
          <a:xfrm>
            <a:off x="9156782" y="2370114"/>
            <a:ext cx="2079357" cy="1000269"/>
            <a:chOff x="8024668" y="1751550"/>
            <a:chExt cx="2079357" cy="100026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9498225-8E60-1598-EBFC-A278D6D7E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273525" y="1751554"/>
              <a:ext cx="419158" cy="100026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F47445B-CEE6-1F70-92C8-DEEAE4404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854367" y="1751553"/>
              <a:ext cx="419158" cy="100026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D4EF897-1F1E-2F29-4D77-E32013491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84867" y="1751551"/>
              <a:ext cx="419158" cy="100026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43872C5-08C0-2A7A-6342-40E2EAAE8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35209" y="1751552"/>
              <a:ext cx="419158" cy="100026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861D32D-E4C2-3B6A-18E5-895C6E1F3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619" b="99048" l="2273" r="95455">
                          <a14:foregroundMark x1="52273" y1="10476" x2="61364" y2="62857"/>
                          <a14:foregroundMark x1="15909" y1="11429" x2="29545" y2="62857"/>
                          <a14:foregroundMark x1="29545" y1="62857" x2="52273" y2="63810"/>
                          <a14:foregroundMark x1="61364" y1="38095" x2="63636" y2="61905"/>
                          <a14:foregroundMark x1="59091" y1="30476" x2="56818" y2="39048"/>
                          <a14:foregroundMark x1="29545" y1="16190" x2="56818" y2="51429"/>
                          <a14:foregroundMark x1="43182" y1="30476" x2="52273" y2="49524"/>
                          <a14:foregroundMark x1="34091" y1="37143" x2="36364" y2="50476"/>
                          <a14:foregroundMark x1="18182" y1="44762" x2="43182" y2="43810"/>
                          <a14:foregroundMark x1="36364" y1="42857" x2="31818" y2="67619"/>
                          <a14:foregroundMark x1="2273" y1="54286" x2="6818" y2="54286"/>
                          <a14:foregroundMark x1="6818" y1="52381" x2="9091" y2="64762"/>
                          <a14:foregroundMark x1="13636" y1="42857" x2="20455" y2="66667"/>
                          <a14:foregroundMark x1="27273" y1="57143" x2="38636" y2="77143"/>
                          <a14:foregroundMark x1="38636" y1="70476" x2="88636" y2="71429"/>
                          <a14:foregroundMark x1="79545" y1="67619" x2="86364" y2="79048"/>
                          <a14:foregroundMark x1="97727" y1="60952" x2="88636" y2="76190"/>
                          <a14:foregroundMark x1="86364" y1="61905" x2="47727" y2="81905"/>
                          <a14:foregroundMark x1="52273" y1="71429" x2="61364" y2="89524"/>
                          <a14:foregroundMark x1="79545" y1="89524" x2="34091" y2="91429"/>
                          <a14:foregroundMark x1="86364" y1="87619" x2="47727" y2="89524"/>
                          <a14:foregroundMark x1="52273" y1="88571" x2="81818" y2="95238"/>
                          <a14:foregroundMark x1="47727" y1="99048" x2="34091" y2="98095"/>
                          <a14:foregroundMark x1="63636" y1="95238" x2="20455" y2="97143"/>
                          <a14:foregroundMark x1="50000" y1="93333" x2="15909" y2="85714"/>
                          <a14:foregroundMark x1="20455" y1="77143" x2="31818" y2="88571"/>
                          <a14:foregroundMark x1="75000" y1="46667" x2="88636" y2="45714"/>
                          <a14:foregroundMark x1="88636" y1="39048" x2="90909" y2="50476"/>
                          <a14:foregroundMark x1="95455" y1="24762" x2="97727" y2="50476"/>
                          <a14:foregroundMark x1="97727" y1="12381" x2="95455" y2="47619"/>
                          <a14:foregroundMark x1="84091" y1="20952" x2="18182" y2="29524"/>
                          <a14:foregroundMark x1="65909" y1="7619" x2="27273" y2="14286"/>
                          <a14:foregroundMark x1="50000" y1="10476" x2="34091" y2="12381"/>
                          <a14:foregroundMark x1="25000" y1="8571" x2="27273" y2="8571"/>
                          <a14:foregroundMark x1="29545" y1="7619" x2="93182" y2="6667"/>
                          <a14:foregroundMark x1="45455" y1="6667" x2="29545" y2="6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24668" y="1751550"/>
              <a:ext cx="419158" cy="1000265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A29175B-C45D-E614-73F0-9860BF668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73" y="2486513"/>
            <a:ext cx="2424954" cy="7674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E87C39-E2DC-7887-0DCC-05E7AABDA451}"/>
              </a:ext>
            </a:extLst>
          </p:cNvPr>
          <p:cNvSpPr/>
          <p:nvPr/>
        </p:nvSpPr>
        <p:spPr>
          <a:xfrm>
            <a:off x="1508428" y="395041"/>
            <a:ext cx="2660073" cy="9254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The Footbridge Scenario</a:t>
            </a:r>
            <a:endParaRPr lang="en-PH" sz="28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Premium Vector | Simple vector fat stick man stickman stand isolated on  white">
            <a:extLst>
              <a:ext uri="{FF2B5EF4-FFF2-40B4-BE49-F238E27FC236}">
                <a16:creationId xmlns:a16="http://schemas.microsoft.com/office/drawing/2014/main" id="{70B6A6ED-D02F-388B-5660-5F2674A70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04" b="93291" l="9904" r="89936">
                        <a14:foregroundMark x1="38658" y1="93291" x2="38658" y2="93291"/>
                        <a14:foregroundMark x1="52556" y1="16613" x2="52556" y2="16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452620" y="539898"/>
            <a:ext cx="1167503" cy="116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133,876 Pedestrian Bridge Images, Stock Photos, 3D objects, &amp; Vectors |  Shutterstock">
            <a:extLst>
              <a:ext uri="{FF2B5EF4-FFF2-40B4-BE49-F238E27FC236}">
                <a16:creationId xmlns:a16="http://schemas.microsoft.com/office/drawing/2014/main" id="{E84DDD4E-118D-8AB9-BAA1-3C63F395A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2143" l="775" r="99225">
                        <a14:foregroundMark x1="8527" y1="86786" x2="8527" y2="86786"/>
                        <a14:foregroundMark x1="1240" y1="85714" x2="1240" y2="85714"/>
                        <a14:foregroundMark x1="23256" y1="92143" x2="23256" y2="92143"/>
                        <a14:foregroundMark x1="94884" y1="86071" x2="94884" y2="86071"/>
                        <a14:foregroundMark x1="99225" y1="86429" x2="99225" y2="86429"/>
                        <a14:backgroundMark x1="20310" y1="50357" x2="20310" y2="50357"/>
                        <a14:backgroundMark x1="34419" y1="50357" x2="34419" y2="50357"/>
                        <a14:backgroundMark x1="35659" y1="50357" x2="35659" y2="50357"/>
                        <a14:backgroundMark x1="49767" y1="50714" x2="49767" y2="50714"/>
                        <a14:backgroundMark x1="50853" y1="50357" x2="50853" y2="50357"/>
                        <a14:backgroundMark x1="64961" y1="50714" x2="64961" y2="50714"/>
                        <a14:backgroundMark x1="66512" y1="50714" x2="66512" y2="50714"/>
                        <a14:backgroundMark x1="80465" y1="50357" x2="80465" y2="503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414" y="538164"/>
            <a:ext cx="4831974" cy="20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F943CF-E0CE-FAF2-FB74-C8BB000E0556}"/>
              </a:ext>
            </a:extLst>
          </p:cNvPr>
          <p:cNvSpPr txBox="1"/>
          <p:nvPr/>
        </p:nvSpPr>
        <p:spPr>
          <a:xfrm>
            <a:off x="5883091" y="4599076"/>
            <a:ext cx="579188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42% of people disagree with you, 58% agree (919,376 votes)</a:t>
            </a:r>
            <a:endParaRPr lang="en-PH" dirty="0"/>
          </a:p>
        </p:txBody>
      </p:sp>
      <p:sp>
        <p:nvSpPr>
          <p:cNvPr id="3" name="TextBox 2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ADA5DB46-4FC4-3A8C-F2F2-D66F8FE5652F}"/>
              </a:ext>
            </a:extLst>
          </p:cNvPr>
          <p:cNvSpPr txBox="1"/>
          <p:nvPr/>
        </p:nvSpPr>
        <p:spPr>
          <a:xfrm>
            <a:off x="7374697" y="5333694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RESET</a:t>
            </a:r>
            <a:endParaRPr lang="en-PH" dirty="0"/>
          </a:p>
        </p:txBody>
      </p:sp>
      <p:sp>
        <p:nvSpPr>
          <p:cNvPr id="4" name="TextBox 3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728B7935-F8DF-3893-F322-9815D8192453}"/>
              </a:ext>
            </a:extLst>
          </p:cNvPr>
          <p:cNvSpPr txBox="1"/>
          <p:nvPr/>
        </p:nvSpPr>
        <p:spPr>
          <a:xfrm>
            <a:off x="8989526" y="5338760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74083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00509 L 0.7349 0.0027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784" y="-11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0D264E3-D08F-E6D0-183E-4366B0496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53260" y="703254"/>
            <a:ext cx="419158" cy="100026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93C62AE-1457-B4B9-2FC0-63939060B7B8}"/>
              </a:ext>
            </a:extLst>
          </p:cNvPr>
          <p:cNvSpPr/>
          <p:nvPr/>
        </p:nvSpPr>
        <p:spPr>
          <a:xfrm>
            <a:off x="517021" y="3755808"/>
            <a:ext cx="4649908" cy="183655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You are a doctor with five patients in critical condition. Each of them needs a different organ to survive. A healthy person walks into your office for a routine check-up. </a:t>
            </a:r>
            <a:r>
              <a:rPr lang="en-US" b="1" dirty="0">
                <a:solidFill>
                  <a:schemeClr val="tx1"/>
                </a:solidFill>
              </a:rPr>
              <a:t>Do you kill this healthy person to harvest their organs to save the five patients?</a:t>
            </a:r>
            <a:endParaRPr lang="en-PH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538E538-9B80-6161-0049-E5AAEC8C1914}"/>
              </a:ext>
            </a:extLst>
          </p:cNvPr>
          <p:cNvSpPr txBox="1"/>
          <p:nvPr/>
        </p:nvSpPr>
        <p:spPr>
          <a:xfrm>
            <a:off x="1314450" y="6000781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YES</a:t>
            </a:r>
            <a:endParaRPr lang="en-PH" dirty="0"/>
          </a:p>
        </p:txBody>
      </p:sp>
      <p:sp>
        <p:nvSpPr>
          <p:cNvPr id="28" name="TextBox 2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54DD834-2ECE-BF6D-9AF7-525EA5F2339B}"/>
              </a:ext>
            </a:extLst>
          </p:cNvPr>
          <p:cNvSpPr txBox="1"/>
          <p:nvPr/>
        </p:nvSpPr>
        <p:spPr>
          <a:xfrm>
            <a:off x="3019075" y="6000781"/>
            <a:ext cx="117282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  <a:endParaRPr lang="en-PH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861D32D-E4C2-3B6A-18E5-895C6E1F3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275920">
            <a:off x="1655344" y="1867432"/>
            <a:ext cx="419158" cy="10002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E87C39-E2DC-7887-0DCC-05E7AABDA451}"/>
              </a:ext>
            </a:extLst>
          </p:cNvPr>
          <p:cNvSpPr/>
          <p:nvPr/>
        </p:nvSpPr>
        <p:spPr>
          <a:xfrm>
            <a:off x="1508428" y="395041"/>
            <a:ext cx="2660073" cy="9254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The Medical Experiment</a:t>
            </a:r>
            <a:endParaRPr lang="en-PH" sz="28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CA2A52-D416-F67C-2C19-361E8DCD5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6091" y="703255"/>
            <a:ext cx="419158" cy="1000264"/>
          </a:xfrm>
          <a:prstGeom prst="rect">
            <a:avLst/>
          </a:prstGeom>
        </p:spPr>
      </p:pic>
      <p:pic>
        <p:nvPicPr>
          <p:cNvPr id="2050" name="Picture 2" descr="table black and white - Clip Art Library">
            <a:extLst>
              <a:ext uri="{FF2B5EF4-FFF2-40B4-BE49-F238E27FC236}">
                <a16:creationId xmlns:a16="http://schemas.microsoft.com/office/drawing/2014/main" id="{247517D9-D2C1-1F13-2CF3-BF5BB93B5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07" b="90393" l="9868" r="89803">
                        <a14:foregroundMark x1="12500" y1="35371" x2="12500" y2="35371"/>
                        <a14:foregroundMark x1="13487" y1="34498" x2="13487" y2="34498"/>
                        <a14:foregroundMark x1="54934" y1="90393" x2="54934" y2="90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875" y="2054382"/>
            <a:ext cx="1575115" cy="11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9D2BEE-732E-73DC-C550-EDBC13258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275920">
            <a:off x="2963683" y="1867433"/>
            <a:ext cx="419158" cy="10002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E74DE62-5FEF-857D-F59A-8AE44D1E8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275920">
            <a:off x="4209434" y="1867432"/>
            <a:ext cx="419158" cy="10002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4C1791C-860B-3A50-A4BB-36728AC2A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275920">
            <a:off x="5517772" y="1898197"/>
            <a:ext cx="419158" cy="10002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D7782E3-666B-5557-8A7A-2FA4EF45E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275920">
            <a:off x="6795351" y="1867430"/>
            <a:ext cx="419158" cy="1000265"/>
          </a:xfrm>
          <a:prstGeom prst="rect">
            <a:avLst/>
          </a:prstGeom>
        </p:spPr>
      </p:pic>
      <p:pic>
        <p:nvPicPr>
          <p:cNvPr id="7" name="Picture 2" descr="table black and white - Clip Art Library">
            <a:extLst>
              <a:ext uri="{FF2B5EF4-FFF2-40B4-BE49-F238E27FC236}">
                <a16:creationId xmlns:a16="http://schemas.microsoft.com/office/drawing/2014/main" id="{BFF12BD1-2DAA-7288-D3BC-00EBC2FCF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07" b="90393" l="9868" r="89803">
                        <a14:foregroundMark x1="12500" y1="35371" x2="12500" y2="35371"/>
                        <a14:foregroundMark x1="13487" y1="34498" x2="13487" y2="34498"/>
                        <a14:foregroundMark x1="54934" y1="90393" x2="54934" y2="90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214" y="2054381"/>
            <a:ext cx="1575115" cy="11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table black and white - Clip Art Library">
            <a:extLst>
              <a:ext uri="{FF2B5EF4-FFF2-40B4-BE49-F238E27FC236}">
                <a16:creationId xmlns:a16="http://schemas.microsoft.com/office/drawing/2014/main" id="{FA37797B-4626-CA5C-5C01-680AC1C63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07" b="90393" l="9868" r="89803">
                        <a14:foregroundMark x1="12500" y1="35371" x2="12500" y2="35371"/>
                        <a14:foregroundMark x1="13487" y1="34498" x2="13487" y2="34498"/>
                        <a14:foregroundMark x1="54934" y1="90393" x2="54934" y2="90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553" y="2054382"/>
            <a:ext cx="1575115" cy="11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table black and white - Clip Art Library">
            <a:extLst>
              <a:ext uri="{FF2B5EF4-FFF2-40B4-BE49-F238E27FC236}">
                <a16:creationId xmlns:a16="http://schemas.microsoft.com/office/drawing/2014/main" id="{C1E19D15-57CB-5D01-C649-45F719B75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07" b="90393" l="9868" r="89803">
                        <a14:foregroundMark x1="12500" y1="35371" x2="12500" y2="35371"/>
                        <a14:foregroundMark x1="13487" y1="34498" x2="13487" y2="34498"/>
                        <a14:foregroundMark x1="54934" y1="90393" x2="54934" y2="90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892" y="2054381"/>
            <a:ext cx="1575115" cy="11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table black and white - Clip Art Library">
            <a:extLst>
              <a:ext uri="{FF2B5EF4-FFF2-40B4-BE49-F238E27FC236}">
                <a16:creationId xmlns:a16="http://schemas.microsoft.com/office/drawing/2014/main" id="{33A4997F-6BD9-3A17-B65E-4CD160215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07" b="90393" l="9868" r="89803">
                        <a14:foregroundMark x1="12500" y1="35371" x2="12500" y2="35371"/>
                        <a14:foregroundMark x1="13487" y1="34498" x2="13487" y2="34498"/>
                        <a14:foregroundMark x1="54934" y1="90393" x2="54934" y2="90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856" y="2054381"/>
            <a:ext cx="1575115" cy="11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ffice Desk Icon Isolated Black And White Vector Illustration Graphic  Design Royalty Free SVG, Cliparts, Vectors, and Stock Illustration. Image  124134999.">
            <a:extLst>
              <a:ext uri="{FF2B5EF4-FFF2-40B4-BE49-F238E27FC236}">
                <a16:creationId xmlns:a16="http://schemas.microsoft.com/office/drawing/2014/main" id="{18DB4292-B106-CDA7-854E-113DB1C24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9385" r="90000">
                        <a14:foregroundMark x1="9385" y1="35846" x2="9385" y2="35846"/>
                        <a14:foregroundMark x1="30538" y1="29154" x2="30538" y2="29154"/>
                        <a14:foregroundMark x1="28462" y1="32846" x2="28462" y2="32846"/>
                        <a14:backgroundMark x1="18692" y1="22538" x2="18692" y2="22538"/>
                        <a14:backgroundMark x1="29692" y1="24231" x2="29692" y2="24231"/>
                        <a14:backgroundMark x1="19692" y1="34385" x2="19692" y2="34385"/>
                        <a14:backgroundMark x1="16923" y1="27769" x2="16923" y2="27769"/>
                        <a14:backgroundMark x1="26692" y1="27923" x2="26692" y2="279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200" y="781050"/>
            <a:ext cx="1078926" cy="1078926"/>
          </a:xfrm>
          <a:prstGeom prst="rect">
            <a:avLst/>
          </a:prstGeom>
          <a:noFill/>
          <a:scene3d>
            <a:camera prst="perspectiveRight">
              <a:rot lat="0" lon="1920000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4272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lood splatter clipart illustration psd. | Free PSD - rawpixel">
            <a:extLst>
              <a:ext uri="{FF2B5EF4-FFF2-40B4-BE49-F238E27FC236}">
                <a16:creationId xmlns:a16="http://schemas.microsoft.com/office/drawing/2014/main" id="{327592F9-6B85-A21D-B035-8BA89BF48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625" y1="27580" x2="17625" y2="27580"/>
                        <a14:foregroundMark x1="62500" y1="79550" x2="62500" y2="79550"/>
                        <a14:foregroundMark x1="83250" y1="42777" x2="83250" y2="427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7582" y="1385441"/>
            <a:ext cx="740354" cy="493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0D264E3-D08F-E6D0-183E-4366B0496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583190">
            <a:off x="7419452" y="919830"/>
            <a:ext cx="419158" cy="100026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93C62AE-1457-B4B9-2FC0-63939060B7B8}"/>
              </a:ext>
            </a:extLst>
          </p:cNvPr>
          <p:cNvSpPr/>
          <p:nvPr/>
        </p:nvSpPr>
        <p:spPr>
          <a:xfrm>
            <a:off x="517021" y="3755808"/>
            <a:ext cx="4649908" cy="183655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You are a doctor with five patients in critical condition. Each of them needs a different organ to survive. A healthy person walks into your office for a routine check-up. </a:t>
            </a:r>
            <a:r>
              <a:rPr lang="en-US" b="1" dirty="0">
                <a:solidFill>
                  <a:schemeClr val="tx1"/>
                </a:solidFill>
              </a:rPr>
              <a:t>Do you kill this healthy person to harvest their organs to save the five patients?</a:t>
            </a:r>
            <a:endParaRPr lang="en-PH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38E538-9B80-6161-0049-E5AAEC8C1914}"/>
              </a:ext>
            </a:extLst>
          </p:cNvPr>
          <p:cNvSpPr txBox="1"/>
          <p:nvPr/>
        </p:nvSpPr>
        <p:spPr>
          <a:xfrm>
            <a:off x="1314450" y="6000781"/>
            <a:ext cx="117282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YES</a:t>
            </a:r>
            <a:endParaRPr lang="en-PH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4DD834-2ECE-BF6D-9AF7-525EA5F2339B}"/>
              </a:ext>
            </a:extLst>
          </p:cNvPr>
          <p:cNvSpPr txBox="1"/>
          <p:nvPr/>
        </p:nvSpPr>
        <p:spPr>
          <a:xfrm>
            <a:off x="3019075" y="6000781"/>
            <a:ext cx="117282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  <a:endParaRPr lang="en-PH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861D32D-E4C2-3B6A-18E5-895C6E1F3C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275920">
            <a:off x="1655344" y="1867432"/>
            <a:ext cx="419158" cy="10002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E87C39-E2DC-7887-0DCC-05E7AABDA451}"/>
              </a:ext>
            </a:extLst>
          </p:cNvPr>
          <p:cNvSpPr/>
          <p:nvPr/>
        </p:nvSpPr>
        <p:spPr>
          <a:xfrm>
            <a:off x="1508428" y="395041"/>
            <a:ext cx="2660073" cy="9254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The Medical Experiment</a:t>
            </a:r>
            <a:endParaRPr lang="en-PH" sz="28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CA2A52-D416-F67C-2C19-361E8DCD5A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6091" y="703255"/>
            <a:ext cx="419158" cy="1000264"/>
          </a:xfrm>
          <a:prstGeom prst="rect">
            <a:avLst/>
          </a:prstGeom>
        </p:spPr>
      </p:pic>
      <p:pic>
        <p:nvPicPr>
          <p:cNvPr id="2050" name="Picture 2" descr="table black and white - Clip Art Library">
            <a:extLst>
              <a:ext uri="{FF2B5EF4-FFF2-40B4-BE49-F238E27FC236}">
                <a16:creationId xmlns:a16="http://schemas.microsoft.com/office/drawing/2014/main" id="{247517D9-D2C1-1F13-2CF3-BF5BB93B5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07" b="90393" l="9868" r="89803">
                        <a14:foregroundMark x1="12500" y1="35371" x2="12500" y2="35371"/>
                        <a14:foregroundMark x1="13487" y1="34498" x2="13487" y2="34498"/>
                        <a14:foregroundMark x1="54934" y1="90393" x2="54934" y2="90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875" y="2054382"/>
            <a:ext cx="1575115" cy="11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9D2BEE-732E-73DC-C550-EDBC132583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275920">
            <a:off x="2963683" y="1867433"/>
            <a:ext cx="419158" cy="10002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E74DE62-5FEF-857D-F59A-8AE44D1E89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275920">
            <a:off x="4209434" y="1867432"/>
            <a:ext cx="419158" cy="10002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4C1791C-860B-3A50-A4BB-36728AC2A2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275920">
            <a:off x="5517772" y="1898197"/>
            <a:ext cx="419158" cy="10002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D7782E3-666B-5557-8A7A-2FA4EF45E2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275920">
            <a:off x="6795351" y="1867430"/>
            <a:ext cx="419158" cy="1000265"/>
          </a:xfrm>
          <a:prstGeom prst="rect">
            <a:avLst/>
          </a:prstGeom>
        </p:spPr>
      </p:pic>
      <p:pic>
        <p:nvPicPr>
          <p:cNvPr id="7" name="Picture 2" descr="table black and white - Clip Art Library">
            <a:extLst>
              <a:ext uri="{FF2B5EF4-FFF2-40B4-BE49-F238E27FC236}">
                <a16:creationId xmlns:a16="http://schemas.microsoft.com/office/drawing/2014/main" id="{BFF12BD1-2DAA-7288-D3BC-00EBC2FCF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07" b="90393" l="9868" r="89803">
                        <a14:foregroundMark x1="12500" y1="35371" x2="12500" y2="35371"/>
                        <a14:foregroundMark x1="13487" y1="34498" x2="13487" y2="34498"/>
                        <a14:foregroundMark x1="54934" y1="90393" x2="54934" y2="90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214" y="2054381"/>
            <a:ext cx="1575115" cy="11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table black and white - Clip Art Library">
            <a:extLst>
              <a:ext uri="{FF2B5EF4-FFF2-40B4-BE49-F238E27FC236}">
                <a16:creationId xmlns:a16="http://schemas.microsoft.com/office/drawing/2014/main" id="{FA37797B-4626-CA5C-5C01-680AC1C63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07" b="90393" l="9868" r="89803">
                        <a14:foregroundMark x1="12500" y1="35371" x2="12500" y2="35371"/>
                        <a14:foregroundMark x1="13487" y1="34498" x2="13487" y2="34498"/>
                        <a14:foregroundMark x1="54934" y1="90393" x2="54934" y2="90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553" y="2054382"/>
            <a:ext cx="1575115" cy="11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table black and white - Clip Art Library">
            <a:extLst>
              <a:ext uri="{FF2B5EF4-FFF2-40B4-BE49-F238E27FC236}">
                <a16:creationId xmlns:a16="http://schemas.microsoft.com/office/drawing/2014/main" id="{C1E19D15-57CB-5D01-C649-45F719B75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07" b="90393" l="9868" r="89803">
                        <a14:foregroundMark x1="12500" y1="35371" x2="12500" y2="35371"/>
                        <a14:foregroundMark x1="13487" y1="34498" x2="13487" y2="34498"/>
                        <a14:foregroundMark x1="54934" y1="90393" x2="54934" y2="90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892" y="2054381"/>
            <a:ext cx="1575115" cy="11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table black and white - Clip Art Library">
            <a:extLst>
              <a:ext uri="{FF2B5EF4-FFF2-40B4-BE49-F238E27FC236}">
                <a16:creationId xmlns:a16="http://schemas.microsoft.com/office/drawing/2014/main" id="{33A4997F-6BD9-3A17-B65E-4CD160215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07" b="90393" l="9868" r="89803">
                        <a14:foregroundMark x1="12500" y1="35371" x2="12500" y2="35371"/>
                        <a14:foregroundMark x1="13487" y1="34498" x2="13487" y2="34498"/>
                        <a14:foregroundMark x1="54934" y1="90393" x2="54934" y2="90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856" y="2054381"/>
            <a:ext cx="1575115" cy="11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ffice Desk Icon Isolated Black And White Vector Illustration Graphic  Design Royalty Free SVG, Cliparts, Vectors, and Stock Illustration. Image  124134999.">
            <a:extLst>
              <a:ext uri="{FF2B5EF4-FFF2-40B4-BE49-F238E27FC236}">
                <a16:creationId xmlns:a16="http://schemas.microsoft.com/office/drawing/2014/main" id="{18DB4292-B106-CDA7-854E-113DB1C24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9385" r="90000">
                        <a14:foregroundMark x1="9385" y1="35846" x2="9385" y2="35846"/>
                        <a14:foregroundMark x1="30538" y1="29154" x2="30538" y2="29154"/>
                        <a14:foregroundMark x1="28462" y1="32846" x2="28462" y2="32846"/>
                        <a14:backgroundMark x1="18692" y1="22538" x2="18692" y2="22538"/>
                        <a14:backgroundMark x1="29692" y1="24231" x2="29692" y2="24231"/>
                        <a14:backgroundMark x1="19692" y1="34385" x2="19692" y2="34385"/>
                        <a14:backgroundMark x1="16923" y1="27769" x2="16923" y2="27769"/>
                        <a14:backgroundMark x1="26692" y1="27923" x2="26692" y2="279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200" y="781050"/>
            <a:ext cx="1078926" cy="1078926"/>
          </a:xfrm>
          <a:prstGeom prst="rect">
            <a:avLst/>
          </a:prstGeom>
          <a:noFill/>
          <a:scene3d>
            <a:camera prst="perspectiveRight">
              <a:rot lat="0" lon="1920000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un Clipart Images – Browse 17,287 Stock Photos, Vectors, and Video | Adobe  Stock">
            <a:extLst>
              <a:ext uri="{FF2B5EF4-FFF2-40B4-BE49-F238E27FC236}">
                <a16:creationId xmlns:a16="http://schemas.microsoft.com/office/drawing/2014/main" id="{99FB3A79-78A0-F6D9-45CD-0CAECF1EA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78" b="97778" l="1969" r="97638">
                        <a14:foregroundMark x1="36614" y1="21389" x2="36614" y2="21389"/>
                        <a14:foregroundMark x1="11220" y1="11944" x2="61417" y2="16667"/>
                        <a14:foregroundMark x1="58661" y1="17222" x2="80512" y2="41667"/>
                        <a14:foregroundMark x1="80512" y1="41667" x2="81102" y2="44444"/>
                        <a14:foregroundMark x1="77559" y1="21667" x2="79724" y2="56944"/>
                        <a14:foregroundMark x1="77362" y1="32778" x2="85630" y2="84722"/>
                        <a14:foregroundMark x1="77756" y1="50000" x2="89764" y2="95000"/>
                        <a14:foregroundMark x1="93110" y1="97778" x2="93110" y2="97778"/>
                        <a14:foregroundMark x1="97638" y1="86111" x2="97638" y2="87222"/>
                        <a14:foregroundMark x1="91142" y1="15833" x2="91142" y2="15833"/>
                        <a14:foregroundMark x1="88386" y1="4722" x2="88386" y2="4722"/>
                        <a14:foregroundMark x1="5315" y1="11944" x2="5315" y2="11944"/>
                        <a14:foregroundMark x1="1969" y1="11389" x2="1969" y2="11389"/>
                        <a14:foregroundMark x1="6693" y1="2778" x2="6693" y2="2778"/>
                        <a14:foregroundMark x1="89173" y1="3333" x2="89173" y2="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675249" y="848299"/>
            <a:ext cx="541512" cy="38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Blood splatter clipart illustration psd. | Free PSD - rawpixel">
            <a:extLst>
              <a:ext uri="{FF2B5EF4-FFF2-40B4-BE49-F238E27FC236}">
                <a16:creationId xmlns:a16="http://schemas.microsoft.com/office/drawing/2014/main" id="{CCACB0E3-83DB-102F-15BE-6C71E4794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625" y1="27580" x2="17625" y2="27580"/>
                        <a14:foregroundMark x1="62500" y1="79550" x2="62500" y2="79550"/>
                        <a14:foregroundMark x1="83250" y1="42777" x2="83250" y2="427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0794" y="1632071"/>
            <a:ext cx="740354" cy="493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Blood splatter clipart illustration psd. | Free PSD - rawpixel">
            <a:extLst>
              <a:ext uri="{FF2B5EF4-FFF2-40B4-BE49-F238E27FC236}">
                <a16:creationId xmlns:a16="http://schemas.microsoft.com/office/drawing/2014/main" id="{8EF72E70-4BE9-4C15-8140-59F40E97E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625" y1="27580" x2="17625" y2="27580"/>
                        <a14:foregroundMark x1="62500" y1="79550" x2="62500" y2="79550"/>
                        <a14:foregroundMark x1="83250" y1="42777" x2="83250" y2="427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5149" y="788318"/>
            <a:ext cx="740354" cy="493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BB73E6-B973-F9EE-5C21-FCDDC0FE7A7E}"/>
              </a:ext>
            </a:extLst>
          </p:cNvPr>
          <p:cNvSpPr txBox="1"/>
          <p:nvPr/>
        </p:nvSpPr>
        <p:spPr>
          <a:xfrm>
            <a:off x="5883091" y="4363338"/>
            <a:ext cx="579188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87% of people agree with you, 13% disagree (781,211 votes)</a:t>
            </a:r>
            <a:endParaRPr lang="en-PH" dirty="0"/>
          </a:p>
        </p:txBody>
      </p:sp>
      <p:sp>
        <p:nvSpPr>
          <p:cNvPr id="8" name="TextBox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41FBB56-0F62-E7AB-91CC-26C70939C644}"/>
              </a:ext>
            </a:extLst>
          </p:cNvPr>
          <p:cNvSpPr txBox="1"/>
          <p:nvPr/>
        </p:nvSpPr>
        <p:spPr>
          <a:xfrm>
            <a:off x="7374697" y="5097956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RESET</a:t>
            </a:r>
            <a:endParaRPr lang="en-PH" dirty="0"/>
          </a:p>
        </p:txBody>
      </p:sp>
      <p:sp>
        <p:nvSpPr>
          <p:cNvPr id="9" name="TextBox 8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1DEAE091-0B92-0908-B01E-3B591328901B}"/>
              </a:ext>
            </a:extLst>
          </p:cNvPr>
          <p:cNvSpPr txBox="1"/>
          <p:nvPr/>
        </p:nvSpPr>
        <p:spPr>
          <a:xfrm>
            <a:off x="8989526" y="5103022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8555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0D264E3-D08F-E6D0-183E-4366B0496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53260" y="703254"/>
            <a:ext cx="419158" cy="100026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93C62AE-1457-B4B9-2FC0-63939060B7B8}"/>
              </a:ext>
            </a:extLst>
          </p:cNvPr>
          <p:cNvSpPr/>
          <p:nvPr/>
        </p:nvSpPr>
        <p:spPr>
          <a:xfrm>
            <a:off x="517021" y="3755808"/>
            <a:ext cx="4649908" cy="183655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You are a doctor with five patients in critical condition. Each of them needs a different organ to survive. A healthy person walks into your office for a routine check-up. </a:t>
            </a:r>
            <a:r>
              <a:rPr lang="en-US" b="1" dirty="0">
                <a:solidFill>
                  <a:schemeClr val="tx1"/>
                </a:solidFill>
              </a:rPr>
              <a:t>Do you kill this healthy person to harvest their organs to save the five patients?</a:t>
            </a:r>
            <a:endParaRPr lang="en-PH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38E538-9B80-6161-0049-E5AAEC8C1914}"/>
              </a:ext>
            </a:extLst>
          </p:cNvPr>
          <p:cNvSpPr txBox="1"/>
          <p:nvPr/>
        </p:nvSpPr>
        <p:spPr>
          <a:xfrm>
            <a:off x="1314450" y="6000781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YES</a:t>
            </a:r>
            <a:endParaRPr lang="en-PH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4DD834-2ECE-BF6D-9AF7-525EA5F2339B}"/>
              </a:ext>
            </a:extLst>
          </p:cNvPr>
          <p:cNvSpPr txBox="1"/>
          <p:nvPr/>
        </p:nvSpPr>
        <p:spPr>
          <a:xfrm>
            <a:off x="3019075" y="6000781"/>
            <a:ext cx="11728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  <a:endParaRPr lang="en-PH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861D32D-E4C2-3B6A-18E5-895C6E1F3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275920">
            <a:off x="1655344" y="1867432"/>
            <a:ext cx="419158" cy="10002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E87C39-E2DC-7887-0DCC-05E7AABDA451}"/>
              </a:ext>
            </a:extLst>
          </p:cNvPr>
          <p:cNvSpPr/>
          <p:nvPr/>
        </p:nvSpPr>
        <p:spPr>
          <a:xfrm>
            <a:off x="1508428" y="395041"/>
            <a:ext cx="2660073" cy="9254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The Medical Experiment</a:t>
            </a:r>
            <a:endParaRPr lang="en-PH" sz="28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CA2A52-D416-F67C-2C19-361E8DCD5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6091" y="703255"/>
            <a:ext cx="419158" cy="1000264"/>
          </a:xfrm>
          <a:prstGeom prst="rect">
            <a:avLst/>
          </a:prstGeom>
        </p:spPr>
      </p:pic>
      <p:pic>
        <p:nvPicPr>
          <p:cNvPr id="2050" name="Picture 2" descr="table black and white - Clip Art Library">
            <a:extLst>
              <a:ext uri="{FF2B5EF4-FFF2-40B4-BE49-F238E27FC236}">
                <a16:creationId xmlns:a16="http://schemas.microsoft.com/office/drawing/2014/main" id="{247517D9-D2C1-1F13-2CF3-BF5BB93B5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607" b="90393" l="9868" r="89803">
                        <a14:foregroundMark x1="12500" y1="35371" x2="12500" y2="35371"/>
                        <a14:foregroundMark x1="13487" y1="34498" x2="13487" y2="34498"/>
                        <a14:foregroundMark x1="54934" y1="90393" x2="54934" y2="90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875" y="2054382"/>
            <a:ext cx="1575115" cy="11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9D2BEE-732E-73DC-C550-EDBC13258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275920">
            <a:off x="2963683" y="1867433"/>
            <a:ext cx="419158" cy="10002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E74DE62-5FEF-857D-F59A-8AE44D1E8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275920">
            <a:off x="4209434" y="1867432"/>
            <a:ext cx="419158" cy="10002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4C1791C-860B-3A50-A4BB-36728AC2A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275920">
            <a:off x="5517772" y="1898197"/>
            <a:ext cx="419158" cy="10002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D7782E3-666B-5557-8A7A-2FA4EF45E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275920">
            <a:off x="6795351" y="1867430"/>
            <a:ext cx="419158" cy="1000265"/>
          </a:xfrm>
          <a:prstGeom prst="rect">
            <a:avLst/>
          </a:prstGeom>
        </p:spPr>
      </p:pic>
      <p:pic>
        <p:nvPicPr>
          <p:cNvPr id="7" name="Picture 2" descr="table black and white - Clip Art Library">
            <a:extLst>
              <a:ext uri="{FF2B5EF4-FFF2-40B4-BE49-F238E27FC236}">
                <a16:creationId xmlns:a16="http://schemas.microsoft.com/office/drawing/2014/main" id="{BFF12BD1-2DAA-7288-D3BC-00EBC2FCF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607" b="90393" l="9868" r="89803">
                        <a14:foregroundMark x1="12500" y1="35371" x2="12500" y2="35371"/>
                        <a14:foregroundMark x1="13487" y1="34498" x2="13487" y2="34498"/>
                        <a14:foregroundMark x1="54934" y1="90393" x2="54934" y2="90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214" y="2054381"/>
            <a:ext cx="1575115" cy="11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table black and white - Clip Art Library">
            <a:extLst>
              <a:ext uri="{FF2B5EF4-FFF2-40B4-BE49-F238E27FC236}">
                <a16:creationId xmlns:a16="http://schemas.microsoft.com/office/drawing/2014/main" id="{FA37797B-4626-CA5C-5C01-680AC1C63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607" b="90393" l="9868" r="89803">
                        <a14:foregroundMark x1="12500" y1="35371" x2="12500" y2="35371"/>
                        <a14:foregroundMark x1="13487" y1="34498" x2="13487" y2="34498"/>
                        <a14:foregroundMark x1="54934" y1="90393" x2="54934" y2="90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553" y="2054382"/>
            <a:ext cx="1575115" cy="11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table black and white - Clip Art Library">
            <a:extLst>
              <a:ext uri="{FF2B5EF4-FFF2-40B4-BE49-F238E27FC236}">
                <a16:creationId xmlns:a16="http://schemas.microsoft.com/office/drawing/2014/main" id="{C1E19D15-57CB-5D01-C649-45F719B75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607" b="90393" l="9868" r="89803">
                        <a14:foregroundMark x1="12500" y1="35371" x2="12500" y2="35371"/>
                        <a14:foregroundMark x1="13487" y1="34498" x2="13487" y2="34498"/>
                        <a14:foregroundMark x1="54934" y1="90393" x2="54934" y2="90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892" y="2054381"/>
            <a:ext cx="1575115" cy="11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table black and white - Clip Art Library">
            <a:extLst>
              <a:ext uri="{FF2B5EF4-FFF2-40B4-BE49-F238E27FC236}">
                <a16:creationId xmlns:a16="http://schemas.microsoft.com/office/drawing/2014/main" id="{33A4997F-6BD9-3A17-B65E-4CD160215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607" b="90393" l="9868" r="89803">
                        <a14:foregroundMark x1="12500" y1="35371" x2="12500" y2="35371"/>
                        <a14:foregroundMark x1="13487" y1="34498" x2="13487" y2="34498"/>
                        <a14:foregroundMark x1="54934" y1="90393" x2="54934" y2="90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856" y="2054381"/>
            <a:ext cx="1575115" cy="11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ffice Desk Icon Isolated Black And White Vector Illustration Graphic  Design Royalty Free SVG, Cliparts, Vectors, and Stock Illustration. Image  124134999.">
            <a:extLst>
              <a:ext uri="{FF2B5EF4-FFF2-40B4-BE49-F238E27FC236}">
                <a16:creationId xmlns:a16="http://schemas.microsoft.com/office/drawing/2014/main" id="{18DB4292-B106-CDA7-854E-113DB1C24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9385" r="90000">
                        <a14:foregroundMark x1="9385" y1="35846" x2="9385" y2="35846"/>
                        <a14:foregroundMark x1="30538" y1="29154" x2="30538" y2="29154"/>
                        <a14:foregroundMark x1="28462" y1="32846" x2="28462" y2="32846"/>
                        <a14:backgroundMark x1="18692" y1="22538" x2="18692" y2="22538"/>
                        <a14:backgroundMark x1="29692" y1="24231" x2="29692" y2="24231"/>
                        <a14:backgroundMark x1="19692" y1="34385" x2="19692" y2="34385"/>
                        <a14:backgroundMark x1="16923" y1="27769" x2="16923" y2="27769"/>
                        <a14:backgroundMark x1="26692" y1="27923" x2="26692" y2="279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200" y="781050"/>
            <a:ext cx="1078926" cy="1078926"/>
          </a:xfrm>
          <a:prstGeom prst="rect">
            <a:avLst/>
          </a:prstGeom>
          <a:noFill/>
          <a:scene3d>
            <a:camera prst="perspectiveRight">
              <a:rot lat="0" lon="1920000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Free Death Skull Png, Download Free Death Skull Png png ...">
            <a:extLst>
              <a:ext uri="{FF2B5EF4-FFF2-40B4-BE49-F238E27FC236}">
                <a16:creationId xmlns:a16="http://schemas.microsoft.com/office/drawing/2014/main" id="{D496C75D-3EED-0758-754A-9538A249F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375" b="94375" l="10000" r="90000">
                        <a14:foregroundMark x1="41196" y1="8375" x2="41196" y2="8375"/>
                        <a14:foregroundMark x1="62391" y1="47625" x2="62391" y2="47625"/>
                        <a14:foregroundMark x1="41739" y1="45500" x2="41739" y2="45500"/>
                        <a14:foregroundMark x1="47717" y1="56125" x2="47717" y2="56125"/>
                        <a14:foregroundMark x1="52283" y1="55500" x2="52283" y2="55500"/>
                        <a14:foregroundMark x1="20978" y1="93875" x2="20978" y2="93875"/>
                        <a14:foregroundMark x1="78587" y1="93500" x2="78587" y2="93500"/>
                        <a14:foregroundMark x1="78587" y1="94375" x2="78587" y2="94375"/>
                        <a14:backgroundMark x1="40217" y1="68375" x2="40217" y2="68375"/>
                        <a14:backgroundMark x1="42391" y1="69000" x2="42391" y2="69000"/>
                        <a14:backgroundMark x1="41957" y1="73500" x2="41957" y2="73500"/>
                        <a14:backgroundMark x1="44348" y1="70375" x2="44348" y2="70375"/>
                        <a14:backgroundMark x1="44348" y1="75500" x2="44348" y2="75500"/>
                        <a14:backgroundMark x1="46522" y1="70750" x2="46522" y2="70750"/>
                        <a14:backgroundMark x1="46522" y1="75250" x2="46522" y2="75250"/>
                        <a14:backgroundMark x1="48696" y1="71125" x2="48696" y2="71125"/>
                        <a14:backgroundMark x1="49239" y1="75500" x2="49239" y2="75500"/>
                        <a14:backgroundMark x1="51522" y1="71000" x2="51522" y2="71000"/>
                        <a14:backgroundMark x1="51304" y1="75875" x2="51304" y2="75875"/>
                        <a14:backgroundMark x1="53913" y1="70625" x2="53913" y2="70625"/>
                        <a14:backgroundMark x1="53370" y1="75625" x2="53370" y2="75625"/>
                        <a14:backgroundMark x1="55761" y1="70750" x2="55761" y2="70750"/>
                        <a14:backgroundMark x1="55543" y1="74750" x2="55543" y2="74750"/>
                        <a14:backgroundMark x1="58152" y1="69625" x2="58152" y2="69625"/>
                        <a14:backgroundMark x1="58152" y1="74125" x2="58152" y2="74125"/>
                        <a14:backgroundMark x1="60326" y1="68250" x2="60326" y2="68250"/>
                        <a14:backgroundMark x1="60978" y1="65250" x2="60978" y2="65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702" y="1589827"/>
            <a:ext cx="539390" cy="46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Free Death Skull Png, Download Free Death Skull Png png ...">
            <a:extLst>
              <a:ext uri="{FF2B5EF4-FFF2-40B4-BE49-F238E27FC236}">
                <a16:creationId xmlns:a16="http://schemas.microsoft.com/office/drawing/2014/main" id="{B6DD021A-3FE3-19D0-00AB-FF7856DD7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375" b="94375" l="10000" r="90000">
                        <a14:foregroundMark x1="41196" y1="8375" x2="41196" y2="8375"/>
                        <a14:foregroundMark x1="62391" y1="47625" x2="62391" y2="47625"/>
                        <a14:foregroundMark x1="41739" y1="45500" x2="41739" y2="45500"/>
                        <a14:foregroundMark x1="47717" y1="56125" x2="47717" y2="56125"/>
                        <a14:foregroundMark x1="52283" y1="55500" x2="52283" y2="55500"/>
                        <a14:foregroundMark x1="20978" y1="93875" x2="20978" y2="93875"/>
                        <a14:foregroundMark x1="78587" y1="93500" x2="78587" y2="93500"/>
                        <a14:foregroundMark x1="78587" y1="94375" x2="78587" y2="94375"/>
                        <a14:backgroundMark x1="40217" y1="68375" x2="40217" y2="68375"/>
                        <a14:backgroundMark x1="42391" y1="69000" x2="42391" y2="69000"/>
                        <a14:backgroundMark x1="41957" y1="73500" x2="41957" y2="73500"/>
                        <a14:backgroundMark x1="44348" y1="70375" x2="44348" y2="70375"/>
                        <a14:backgroundMark x1="44348" y1="75500" x2="44348" y2="75500"/>
                        <a14:backgroundMark x1="46522" y1="70750" x2="46522" y2="70750"/>
                        <a14:backgroundMark x1="46522" y1="75250" x2="46522" y2="75250"/>
                        <a14:backgroundMark x1="48696" y1="71125" x2="48696" y2="71125"/>
                        <a14:backgroundMark x1="49239" y1="75500" x2="49239" y2="75500"/>
                        <a14:backgroundMark x1="51522" y1="71000" x2="51522" y2="71000"/>
                        <a14:backgroundMark x1="51304" y1="75875" x2="51304" y2="75875"/>
                        <a14:backgroundMark x1="53913" y1="70625" x2="53913" y2="70625"/>
                        <a14:backgroundMark x1="53370" y1="75625" x2="53370" y2="75625"/>
                        <a14:backgroundMark x1="55761" y1="70750" x2="55761" y2="70750"/>
                        <a14:backgroundMark x1="55543" y1="74750" x2="55543" y2="74750"/>
                        <a14:backgroundMark x1="58152" y1="69625" x2="58152" y2="69625"/>
                        <a14:backgroundMark x1="58152" y1="74125" x2="58152" y2="74125"/>
                        <a14:backgroundMark x1="60326" y1="68250" x2="60326" y2="68250"/>
                        <a14:backgroundMark x1="60978" y1="65250" x2="60978" y2="65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476" y="1566300"/>
            <a:ext cx="539390" cy="46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ree Death Skull Png, Download Free Death Skull Png png ...">
            <a:extLst>
              <a:ext uri="{FF2B5EF4-FFF2-40B4-BE49-F238E27FC236}">
                <a16:creationId xmlns:a16="http://schemas.microsoft.com/office/drawing/2014/main" id="{674E9E3B-A2B7-149A-A32E-3411FE9E2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375" b="94375" l="10000" r="90000">
                        <a14:foregroundMark x1="41196" y1="8375" x2="41196" y2="8375"/>
                        <a14:foregroundMark x1="62391" y1="47625" x2="62391" y2="47625"/>
                        <a14:foregroundMark x1="41739" y1="45500" x2="41739" y2="45500"/>
                        <a14:foregroundMark x1="47717" y1="56125" x2="47717" y2="56125"/>
                        <a14:foregroundMark x1="52283" y1="55500" x2="52283" y2="55500"/>
                        <a14:foregroundMark x1="20978" y1="93875" x2="20978" y2="93875"/>
                        <a14:foregroundMark x1="78587" y1="93500" x2="78587" y2="93500"/>
                        <a14:foregroundMark x1="78587" y1="94375" x2="78587" y2="94375"/>
                        <a14:backgroundMark x1="40217" y1="68375" x2="40217" y2="68375"/>
                        <a14:backgroundMark x1="42391" y1="69000" x2="42391" y2="69000"/>
                        <a14:backgroundMark x1="41957" y1="73500" x2="41957" y2="73500"/>
                        <a14:backgroundMark x1="44348" y1="70375" x2="44348" y2="70375"/>
                        <a14:backgroundMark x1="44348" y1="75500" x2="44348" y2="75500"/>
                        <a14:backgroundMark x1="46522" y1="70750" x2="46522" y2="70750"/>
                        <a14:backgroundMark x1="46522" y1="75250" x2="46522" y2="75250"/>
                        <a14:backgroundMark x1="48696" y1="71125" x2="48696" y2="71125"/>
                        <a14:backgroundMark x1="49239" y1="75500" x2="49239" y2="75500"/>
                        <a14:backgroundMark x1="51522" y1="71000" x2="51522" y2="71000"/>
                        <a14:backgroundMark x1="51304" y1="75875" x2="51304" y2="75875"/>
                        <a14:backgroundMark x1="53913" y1="70625" x2="53913" y2="70625"/>
                        <a14:backgroundMark x1="53370" y1="75625" x2="53370" y2="75625"/>
                        <a14:backgroundMark x1="55761" y1="70750" x2="55761" y2="70750"/>
                        <a14:backgroundMark x1="55543" y1="74750" x2="55543" y2="74750"/>
                        <a14:backgroundMark x1="58152" y1="69625" x2="58152" y2="69625"/>
                        <a14:backgroundMark x1="58152" y1="74125" x2="58152" y2="74125"/>
                        <a14:backgroundMark x1="60326" y1="68250" x2="60326" y2="68250"/>
                        <a14:backgroundMark x1="60978" y1="65250" x2="60978" y2="65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301" y="1564358"/>
            <a:ext cx="539390" cy="46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e Death Skull Png, Download Free Death Skull Png png ...">
            <a:extLst>
              <a:ext uri="{FF2B5EF4-FFF2-40B4-BE49-F238E27FC236}">
                <a16:creationId xmlns:a16="http://schemas.microsoft.com/office/drawing/2014/main" id="{9E9C58A9-7018-9A5B-6ECA-F5601CC5F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375" b="94375" l="10000" r="90000">
                        <a14:foregroundMark x1="41196" y1="8375" x2="41196" y2="8375"/>
                        <a14:foregroundMark x1="62391" y1="47625" x2="62391" y2="47625"/>
                        <a14:foregroundMark x1="41739" y1="45500" x2="41739" y2="45500"/>
                        <a14:foregroundMark x1="47717" y1="56125" x2="47717" y2="56125"/>
                        <a14:foregroundMark x1="52283" y1="55500" x2="52283" y2="55500"/>
                        <a14:foregroundMark x1="20978" y1="93875" x2="20978" y2="93875"/>
                        <a14:foregroundMark x1="78587" y1="93500" x2="78587" y2="93500"/>
                        <a14:foregroundMark x1="78587" y1="94375" x2="78587" y2="94375"/>
                        <a14:backgroundMark x1="40217" y1="68375" x2="40217" y2="68375"/>
                        <a14:backgroundMark x1="42391" y1="69000" x2="42391" y2="69000"/>
                        <a14:backgroundMark x1="41957" y1="73500" x2="41957" y2="73500"/>
                        <a14:backgroundMark x1="44348" y1="70375" x2="44348" y2="70375"/>
                        <a14:backgroundMark x1="44348" y1="75500" x2="44348" y2="75500"/>
                        <a14:backgroundMark x1="46522" y1="70750" x2="46522" y2="70750"/>
                        <a14:backgroundMark x1="46522" y1="75250" x2="46522" y2="75250"/>
                        <a14:backgroundMark x1="48696" y1="71125" x2="48696" y2="71125"/>
                        <a14:backgroundMark x1="49239" y1="75500" x2="49239" y2="75500"/>
                        <a14:backgroundMark x1="51522" y1="71000" x2="51522" y2="71000"/>
                        <a14:backgroundMark x1="51304" y1="75875" x2="51304" y2="75875"/>
                        <a14:backgroundMark x1="53913" y1="70625" x2="53913" y2="70625"/>
                        <a14:backgroundMark x1="53370" y1="75625" x2="53370" y2="75625"/>
                        <a14:backgroundMark x1="55761" y1="70750" x2="55761" y2="70750"/>
                        <a14:backgroundMark x1="55543" y1="74750" x2="55543" y2="74750"/>
                        <a14:backgroundMark x1="58152" y1="69625" x2="58152" y2="69625"/>
                        <a14:backgroundMark x1="58152" y1="74125" x2="58152" y2="74125"/>
                        <a14:backgroundMark x1="60326" y1="68250" x2="60326" y2="68250"/>
                        <a14:backgroundMark x1="60978" y1="65250" x2="60978" y2="65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455" y="1603075"/>
            <a:ext cx="539390" cy="46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Free Death Skull Png, Download Free Death Skull Png png ...">
            <a:extLst>
              <a:ext uri="{FF2B5EF4-FFF2-40B4-BE49-F238E27FC236}">
                <a16:creationId xmlns:a16="http://schemas.microsoft.com/office/drawing/2014/main" id="{8A6ECD18-A418-A172-430F-1E803DC5F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375" b="94375" l="10000" r="90000">
                        <a14:foregroundMark x1="41196" y1="8375" x2="41196" y2="8375"/>
                        <a14:foregroundMark x1="62391" y1="47625" x2="62391" y2="47625"/>
                        <a14:foregroundMark x1="41739" y1="45500" x2="41739" y2="45500"/>
                        <a14:foregroundMark x1="47717" y1="56125" x2="47717" y2="56125"/>
                        <a14:foregroundMark x1="52283" y1="55500" x2="52283" y2="55500"/>
                        <a14:foregroundMark x1="20978" y1="93875" x2="20978" y2="93875"/>
                        <a14:foregroundMark x1="78587" y1="93500" x2="78587" y2="93500"/>
                        <a14:foregroundMark x1="78587" y1="94375" x2="78587" y2="94375"/>
                        <a14:backgroundMark x1="40217" y1="68375" x2="40217" y2="68375"/>
                        <a14:backgroundMark x1="42391" y1="69000" x2="42391" y2="69000"/>
                        <a14:backgroundMark x1="41957" y1="73500" x2="41957" y2="73500"/>
                        <a14:backgroundMark x1="44348" y1="70375" x2="44348" y2="70375"/>
                        <a14:backgroundMark x1="44348" y1="75500" x2="44348" y2="75500"/>
                        <a14:backgroundMark x1="46522" y1="70750" x2="46522" y2="70750"/>
                        <a14:backgroundMark x1="46522" y1="75250" x2="46522" y2="75250"/>
                        <a14:backgroundMark x1="48696" y1="71125" x2="48696" y2="71125"/>
                        <a14:backgroundMark x1="49239" y1="75500" x2="49239" y2="75500"/>
                        <a14:backgroundMark x1="51522" y1="71000" x2="51522" y2="71000"/>
                        <a14:backgroundMark x1="51304" y1="75875" x2="51304" y2="75875"/>
                        <a14:backgroundMark x1="53913" y1="70625" x2="53913" y2="70625"/>
                        <a14:backgroundMark x1="53370" y1="75625" x2="53370" y2="75625"/>
                        <a14:backgroundMark x1="55761" y1="70750" x2="55761" y2="70750"/>
                        <a14:backgroundMark x1="55543" y1="74750" x2="55543" y2="74750"/>
                        <a14:backgroundMark x1="58152" y1="69625" x2="58152" y2="69625"/>
                        <a14:backgroundMark x1="58152" y1="74125" x2="58152" y2="74125"/>
                        <a14:backgroundMark x1="60326" y1="68250" x2="60326" y2="68250"/>
                        <a14:backgroundMark x1="60978" y1="65250" x2="60978" y2="65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818" y="1561833"/>
            <a:ext cx="539390" cy="46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82F27E-9744-1EC3-D2D0-12004CFA3EE9}"/>
              </a:ext>
            </a:extLst>
          </p:cNvPr>
          <p:cNvSpPr txBox="1"/>
          <p:nvPr/>
        </p:nvSpPr>
        <p:spPr>
          <a:xfrm>
            <a:off x="5883091" y="4363338"/>
            <a:ext cx="579188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13% of people disagree with you, 87% agree (781,211 votes)</a:t>
            </a:r>
            <a:endParaRPr lang="en-PH" dirty="0"/>
          </a:p>
        </p:txBody>
      </p:sp>
      <p:sp>
        <p:nvSpPr>
          <p:cNvPr id="10" name="TextBox 9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F3864CCA-8368-19A0-6FE5-6337C3A6451D}"/>
              </a:ext>
            </a:extLst>
          </p:cNvPr>
          <p:cNvSpPr txBox="1"/>
          <p:nvPr/>
        </p:nvSpPr>
        <p:spPr>
          <a:xfrm>
            <a:off x="7374697" y="5097956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RESET</a:t>
            </a:r>
            <a:endParaRPr lang="en-PH" dirty="0"/>
          </a:p>
        </p:txBody>
      </p:sp>
      <p:sp>
        <p:nvSpPr>
          <p:cNvPr id="11" name="TextBox 10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89678B86-9455-4EEA-6580-53A2005B46AB}"/>
              </a:ext>
            </a:extLst>
          </p:cNvPr>
          <p:cNvSpPr txBox="1"/>
          <p:nvPr/>
        </p:nvSpPr>
        <p:spPr>
          <a:xfrm>
            <a:off x="8989526" y="5103022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973778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0D264E3-D08F-E6D0-183E-4366B0496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1369" y="1580161"/>
            <a:ext cx="419158" cy="100026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93C62AE-1457-B4B9-2FC0-63939060B7B8}"/>
              </a:ext>
            </a:extLst>
          </p:cNvPr>
          <p:cNvSpPr/>
          <p:nvPr/>
        </p:nvSpPr>
        <p:spPr>
          <a:xfrm>
            <a:off x="517021" y="3550024"/>
            <a:ext cx="4649908" cy="224812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You are programming an autonomous vehicle, and due to a system malfunction, it is about to hit a group of five pedestrians. The only way to avoid this is for the vehicle to swerve into a barrier, potentially causing harm to the passenger inside. </a:t>
            </a:r>
            <a:r>
              <a:rPr lang="en-US" b="1" dirty="0">
                <a:solidFill>
                  <a:schemeClr val="tx1"/>
                </a:solidFill>
              </a:rPr>
              <a:t>Do you program the vehicle to prioritize the passenger's safety or the pedestrians' safety?</a:t>
            </a:r>
            <a:endParaRPr lang="en-PH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538E538-9B80-6161-0049-E5AAEC8C1914}"/>
              </a:ext>
            </a:extLst>
          </p:cNvPr>
          <p:cNvSpPr txBox="1"/>
          <p:nvPr/>
        </p:nvSpPr>
        <p:spPr>
          <a:xfrm>
            <a:off x="1314450" y="6000781"/>
            <a:ext cx="130772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PASSENGER</a:t>
            </a:r>
            <a:endParaRPr lang="en-PH" dirty="0"/>
          </a:p>
        </p:txBody>
      </p:sp>
      <p:sp>
        <p:nvSpPr>
          <p:cNvPr id="28" name="TextBox 2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54DD834-2ECE-BF6D-9AF7-525EA5F2339B}"/>
              </a:ext>
            </a:extLst>
          </p:cNvPr>
          <p:cNvSpPr txBox="1"/>
          <p:nvPr/>
        </p:nvSpPr>
        <p:spPr>
          <a:xfrm>
            <a:off x="3005628" y="6000781"/>
            <a:ext cx="1445349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PEDESTRIANS</a:t>
            </a:r>
            <a:endParaRPr lang="en-P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E87C39-E2DC-7887-0DCC-05E7AABDA451}"/>
              </a:ext>
            </a:extLst>
          </p:cNvPr>
          <p:cNvSpPr/>
          <p:nvPr/>
        </p:nvSpPr>
        <p:spPr>
          <a:xfrm>
            <a:off x="1508428" y="395041"/>
            <a:ext cx="2660073" cy="9254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The AI Dilemma</a:t>
            </a:r>
            <a:endParaRPr lang="en-PH" sz="28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CA2A52-D416-F67C-2C19-361E8DCD5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6091" y="703255"/>
            <a:ext cx="419158" cy="100026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05CE84-4C59-06BE-3124-B8484309E6BD}"/>
              </a:ext>
            </a:extLst>
          </p:cNvPr>
          <p:cNvCxnSpPr>
            <a:cxnSpLocks/>
          </p:cNvCxnSpPr>
          <p:nvPr/>
        </p:nvCxnSpPr>
        <p:spPr>
          <a:xfrm flipV="1">
            <a:off x="0" y="2334345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8A517C-C4E4-BFFD-F42A-C382D401CF13}"/>
              </a:ext>
            </a:extLst>
          </p:cNvPr>
          <p:cNvCxnSpPr>
            <a:cxnSpLocks/>
          </p:cNvCxnSpPr>
          <p:nvPr/>
        </p:nvCxnSpPr>
        <p:spPr>
          <a:xfrm flipV="1">
            <a:off x="-1" y="2862570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A95CB9F6-9E49-9505-5473-CBE5E2B44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15785" y="1360374"/>
            <a:ext cx="419158" cy="10002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5ACAFE-46D1-5EDA-6BB0-67BF1B5CC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58524" y="2271879"/>
            <a:ext cx="419158" cy="10002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B953CA-24AA-DC6D-F27A-693AF1C71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04407" y="2342897"/>
            <a:ext cx="419158" cy="10002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72DF890-A327-2FED-756F-57F8723AE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1369" y="2911079"/>
            <a:ext cx="419158" cy="1000265"/>
          </a:xfrm>
          <a:prstGeom prst="rect">
            <a:avLst/>
          </a:prstGeom>
        </p:spPr>
      </p:pic>
      <p:pic>
        <p:nvPicPr>
          <p:cNvPr id="5122" name="Picture 2" descr="Bmw Car White Background Stock Vector Illustration and Royalty Free Bmw Car  White Background Clipart">
            <a:extLst>
              <a:ext uri="{FF2B5EF4-FFF2-40B4-BE49-F238E27FC236}">
                <a16:creationId xmlns:a16="http://schemas.microsoft.com/office/drawing/2014/main" id="{AE9633CC-4D35-4324-B80A-4E5CBA157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55258" y="401161"/>
            <a:ext cx="3938628" cy="393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203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0D264E3-D08F-E6D0-183E-4366B0496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1369" y="1580161"/>
            <a:ext cx="419158" cy="100026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93C62AE-1457-B4B9-2FC0-63939060B7B8}"/>
              </a:ext>
            </a:extLst>
          </p:cNvPr>
          <p:cNvSpPr/>
          <p:nvPr/>
        </p:nvSpPr>
        <p:spPr>
          <a:xfrm>
            <a:off x="517021" y="3550024"/>
            <a:ext cx="4649908" cy="224812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You are programming an autonomous vehicle, and due to a system malfunction, it is about to hit a group of five pedestrians. The only way to avoid this is for the vehicle to swerve into a barrier, potentially causing harm to the passenger inside. </a:t>
            </a:r>
            <a:r>
              <a:rPr lang="en-US" b="1" dirty="0">
                <a:solidFill>
                  <a:schemeClr val="tx1"/>
                </a:solidFill>
              </a:rPr>
              <a:t>Do you program the vehicle to prioritize the passenger's safety or the pedestrians' safety?</a:t>
            </a:r>
            <a:endParaRPr lang="en-PH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E87C39-E2DC-7887-0DCC-05E7AABDA451}"/>
              </a:ext>
            </a:extLst>
          </p:cNvPr>
          <p:cNvSpPr/>
          <p:nvPr/>
        </p:nvSpPr>
        <p:spPr>
          <a:xfrm>
            <a:off x="1508428" y="395041"/>
            <a:ext cx="2660073" cy="9254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The AI Dilemma</a:t>
            </a:r>
            <a:endParaRPr lang="en-PH" sz="28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CA2A52-D416-F67C-2C19-361E8DCD5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6091" y="703255"/>
            <a:ext cx="419158" cy="100026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05CE84-4C59-06BE-3124-B8484309E6BD}"/>
              </a:ext>
            </a:extLst>
          </p:cNvPr>
          <p:cNvCxnSpPr>
            <a:cxnSpLocks/>
          </p:cNvCxnSpPr>
          <p:nvPr/>
        </p:nvCxnSpPr>
        <p:spPr>
          <a:xfrm flipV="1">
            <a:off x="0" y="2334345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8A517C-C4E4-BFFD-F42A-C382D401CF13}"/>
              </a:ext>
            </a:extLst>
          </p:cNvPr>
          <p:cNvCxnSpPr>
            <a:cxnSpLocks/>
          </p:cNvCxnSpPr>
          <p:nvPr/>
        </p:nvCxnSpPr>
        <p:spPr>
          <a:xfrm flipV="1">
            <a:off x="-1" y="2862570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A95CB9F6-9E49-9505-5473-CBE5E2B44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15785" y="1360374"/>
            <a:ext cx="419158" cy="10002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5ACAFE-46D1-5EDA-6BB0-67BF1B5CC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58524" y="2271879"/>
            <a:ext cx="419158" cy="10002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B953CA-24AA-DC6D-F27A-693AF1C71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04407" y="2342897"/>
            <a:ext cx="419158" cy="10002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72DF890-A327-2FED-756F-57F8723AE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1369" y="2911079"/>
            <a:ext cx="419158" cy="1000265"/>
          </a:xfrm>
          <a:prstGeom prst="rect">
            <a:avLst/>
          </a:prstGeom>
        </p:spPr>
      </p:pic>
      <p:pic>
        <p:nvPicPr>
          <p:cNvPr id="5122" name="Picture 2" descr="Bmw Car White Background Stock Vector Illustration and Royalty Free Bmw Car  White Background Clipart">
            <a:extLst>
              <a:ext uri="{FF2B5EF4-FFF2-40B4-BE49-F238E27FC236}">
                <a16:creationId xmlns:a16="http://schemas.microsoft.com/office/drawing/2014/main" id="{AE9633CC-4D35-4324-B80A-4E5CBA157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55258" y="401161"/>
            <a:ext cx="3938628" cy="393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61E4AA-F7A4-CE2E-0E27-218E30406E28}"/>
              </a:ext>
            </a:extLst>
          </p:cNvPr>
          <p:cNvSpPr txBox="1"/>
          <p:nvPr/>
        </p:nvSpPr>
        <p:spPr>
          <a:xfrm>
            <a:off x="1314450" y="6000781"/>
            <a:ext cx="130772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PASSENGER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E128C-979A-601D-717E-9A4107EDE24C}"/>
              </a:ext>
            </a:extLst>
          </p:cNvPr>
          <p:cNvSpPr txBox="1"/>
          <p:nvPr/>
        </p:nvSpPr>
        <p:spPr>
          <a:xfrm>
            <a:off x="3005628" y="6000781"/>
            <a:ext cx="1445349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PEDESTRIANS</a:t>
            </a:r>
            <a:endParaRPr lang="en-P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0C95A-6951-5C16-39B4-96903157D234}"/>
              </a:ext>
            </a:extLst>
          </p:cNvPr>
          <p:cNvSpPr txBox="1"/>
          <p:nvPr/>
        </p:nvSpPr>
        <p:spPr>
          <a:xfrm>
            <a:off x="5883091" y="4363338"/>
            <a:ext cx="579188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97% of people agree with you, 3% disagree (997,721 votes)</a:t>
            </a:r>
            <a:endParaRPr lang="en-PH" dirty="0"/>
          </a:p>
        </p:txBody>
      </p:sp>
      <p:sp>
        <p:nvSpPr>
          <p:cNvPr id="7" name="TextBox 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057476C-2035-CEFC-0117-D0BB179770BF}"/>
              </a:ext>
            </a:extLst>
          </p:cNvPr>
          <p:cNvSpPr txBox="1"/>
          <p:nvPr/>
        </p:nvSpPr>
        <p:spPr>
          <a:xfrm>
            <a:off x="7374697" y="5097956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RESET</a:t>
            </a:r>
            <a:endParaRPr lang="en-PH" dirty="0"/>
          </a:p>
        </p:txBody>
      </p:sp>
      <p:sp>
        <p:nvSpPr>
          <p:cNvPr id="8" name="TextBox 7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1B608EF5-82FA-12F7-2395-4DEC7152EDE0}"/>
              </a:ext>
            </a:extLst>
          </p:cNvPr>
          <p:cNvSpPr txBox="1"/>
          <p:nvPr/>
        </p:nvSpPr>
        <p:spPr>
          <a:xfrm>
            <a:off x="8989526" y="5103022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169303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96296E-6 L 0.71289 0.01667 L 0.71289 0.01459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638" y="83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0D264E3-D08F-E6D0-183E-4366B0496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1369" y="1580161"/>
            <a:ext cx="419158" cy="100026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93C62AE-1457-B4B9-2FC0-63939060B7B8}"/>
              </a:ext>
            </a:extLst>
          </p:cNvPr>
          <p:cNvSpPr/>
          <p:nvPr/>
        </p:nvSpPr>
        <p:spPr>
          <a:xfrm>
            <a:off x="517021" y="3550024"/>
            <a:ext cx="4649908" cy="224812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You are programming an autonomous vehicle, and due to a system malfunction, it is about to hit a group of five pedestrians. The only way to avoid this is for the vehicle to swerve into a barrier, potentially causing harm to the passenger inside. </a:t>
            </a:r>
            <a:r>
              <a:rPr lang="en-US" b="1" dirty="0">
                <a:solidFill>
                  <a:schemeClr val="tx1"/>
                </a:solidFill>
              </a:rPr>
              <a:t>Do you program the vehicle to prioritize the passenger's safety or the pedestrians' safety?</a:t>
            </a:r>
            <a:endParaRPr lang="en-PH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E87C39-E2DC-7887-0DCC-05E7AABDA451}"/>
              </a:ext>
            </a:extLst>
          </p:cNvPr>
          <p:cNvSpPr/>
          <p:nvPr/>
        </p:nvSpPr>
        <p:spPr>
          <a:xfrm>
            <a:off x="1508428" y="395041"/>
            <a:ext cx="2660073" cy="9254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The AI Dilemma</a:t>
            </a:r>
            <a:endParaRPr lang="en-PH" sz="28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CA2A52-D416-F67C-2C19-361E8DCD5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6091" y="703255"/>
            <a:ext cx="419158" cy="100026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05CE84-4C59-06BE-3124-B8484309E6BD}"/>
              </a:ext>
            </a:extLst>
          </p:cNvPr>
          <p:cNvCxnSpPr>
            <a:cxnSpLocks/>
          </p:cNvCxnSpPr>
          <p:nvPr/>
        </p:nvCxnSpPr>
        <p:spPr>
          <a:xfrm flipV="1">
            <a:off x="0" y="2334345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8A517C-C4E4-BFFD-F42A-C382D401CF13}"/>
              </a:ext>
            </a:extLst>
          </p:cNvPr>
          <p:cNvCxnSpPr>
            <a:cxnSpLocks/>
          </p:cNvCxnSpPr>
          <p:nvPr/>
        </p:nvCxnSpPr>
        <p:spPr>
          <a:xfrm flipV="1">
            <a:off x="-1" y="2862570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A95CB9F6-9E49-9505-5473-CBE5E2B44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15785" y="1360374"/>
            <a:ext cx="419158" cy="10002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5ACAFE-46D1-5EDA-6BB0-67BF1B5CC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58524" y="2271879"/>
            <a:ext cx="419158" cy="10002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B953CA-24AA-DC6D-F27A-693AF1C71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04407" y="2342897"/>
            <a:ext cx="419158" cy="10002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72DF890-A327-2FED-756F-57F8723AE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1369" y="2911079"/>
            <a:ext cx="419158" cy="1000265"/>
          </a:xfrm>
          <a:prstGeom prst="rect">
            <a:avLst/>
          </a:prstGeom>
        </p:spPr>
      </p:pic>
      <p:pic>
        <p:nvPicPr>
          <p:cNvPr id="5122" name="Picture 2" descr="Bmw Car White Background Stock Vector Illustration and Royalty Free Bmw Car  White Background Clipart">
            <a:extLst>
              <a:ext uri="{FF2B5EF4-FFF2-40B4-BE49-F238E27FC236}">
                <a16:creationId xmlns:a16="http://schemas.microsoft.com/office/drawing/2014/main" id="{AE9633CC-4D35-4324-B80A-4E5CBA157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55258" y="401161"/>
            <a:ext cx="3938628" cy="393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D4B554-4327-340B-6738-AB117158FAD3}"/>
              </a:ext>
            </a:extLst>
          </p:cNvPr>
          <p:cNvSpPr txBox="1"/>
          <p:nvPr/>
        </p:nvSpPr>
        <p:spPr>
          <a:xfrm>
            <a:off x="1314450" y="6000781"/>
            <a:ext cx="130772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PASSENGER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F5C00-5F3B-93EB-4C86-1E159CFC7738}"/>
              </a:ext>
            </a:extLst>
          </p:cNvPr>
          <p:cNvSpPr txBox="1"/>
          <p:nvPr/>
        </p:nvSpPr>
        <p:spPr>
          <a:xfrm>
            <a:off x="3005628" y="6000781"/>
            <a:ext cx="144534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PEDESTRIANS</a:t>
            </a:r>
            <a:endParaRPr lang="en-PH" dirty="0"/>
          </a:p>
        </p:txBody>
      </p:sp>
      <p:pic>
        <p:nvPicPr>
          <p:cNvPr id="4" name="Picture 3" descr="Free Death Skull Png, Download Free Death Skull Png png ...">
            <a:extLst>
              <a:ext uri="{FF2B5EF4-FFF2-40B4-BE49-F238E27FC236}">
                <a16:creationId xmlns:a16="http://schemas.microsoft.com/office/drawing/2014/main" id="{DF7B8FB3-70CA-726A-EC9A-2A63CDEF8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375" b="94375" l="10000" r="90000">
                        <a14:foregroundMark x1="41196" y1="8375" x2="41196" y2="8375"/>
                        <a14:foregroundMark x1="62391" y1="47625" x2="62391" y2="47625"/>
                        <a14:foregroundMark x1="41739" y1="45500" x2="41739" y2="45500"/>
                        <a14:foregroundMark x1="47717" y1="56125" x2="47717" y2="56125"/>
                        <a14:foregroundMark x1="52283" y1="55500" x2="52283" y2="55500"/>
                        <a14:foregroundMark x1="20978" y1="93875" x2="20978" y2="93875"/>
                        <a14:foregroundMark x1="78587" y1="93500" x2="78587" y2="93500"/>
                        <a14:foregroundMark x1="78587" y1="94375" x2="78587" y2="94375"/>
                        <a14:backgroundMark x1="40217" y1="68375" x2="40217" y2="68375"/>
                        <a14:backgroundMark x1="42391" y1="69000" x2="42391" y2="69000"/>
                        <a14:backgroundMark x1="41957" y1="73500" x2="41957" y2="73500"/>
                        <a14:backgroundMark x1="44348" y1="70375" x2="44348" y2="70375"/>
                        <a14:backgroundMark x1="44348" y1="75500" x2="44348" y2="75500"/>
                        <a14:backgroundMark x1="46522" y1="70750" x2="46522" y2="70750"/>
                        <a14:backgroundMark x1="46522" y1="75250" x2="46522" y2="75250"/>
                        <a14:backgroundMark x1="48696" y1="71125" x2="48696" y2="71125"/>
                        <a14:backgroundMark x1="49239" y1="75500" x2="49239" y2="75500"/>
                        <a14:backgroundMark x1="51522" y1="71000" x2="51522" y2="71000"/>
                        <a14:backgroundMark x1="51304" y1="75875" x2="51304" y2="75875"/>
                        <a14:backgroundMark x1="53913" y1="70625" x2="53913" y2="70625"/>
                        <a14:backgroundMark x1="53370" y1="75625" x2="53370" y2="75625"/>
                        <a14:backgroundMark x1="55761" y1="70750" x2="55761" y2="70750"/>
                        <a14:backgroundMark x1="55543" y1="74750" x2="55543" y2="74750"/>
                        <a14:backgroundMark x1="58152" y1="69625" x2="58152" y2="69625"/>
                        <a14:backgroundMark x1="58152" y1="74125" x2="58152" y2="74125"/>
                        <a14:backgroundMark x1="60326" y1="68250" x2="60326" y2="68250"/>
                        <a14:backgroundMark x1="60978" y1="65250" x2="60978" y2="65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172" y="703255"/>
            <a:ext cx="539390" cy="46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B8694358-D91D-7DF0-1692-DAF1BFE5124A}"/>
              </a:ext>
            </a:extLst>
          </p:cNvPr>
          <p:cNvSpPr txBox="1"/>
          <p:nvPr/>
        </p:nvSpPr>
        <p:spPr>
          <a:xfrm>
            <a:off x="7374697" y="5097956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RESET</a:t>
            </a:r>
            <a:endParaRPr lang="en-PH" dirty="0"/>
          </a:p>
        </p:txBody>
      </p:sp>
      <p:sp>
        <p:nvSpPr>
          <p:cNvPr id="14" name="TextBox 13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D5ED1B96-92A6-A7B3-33A7-EF4963ACC890}"/>
              </a:ext>
            </a:extLst>
          </p:cNvPr>
          <p:cNvSpPr txBox="1"/>
          <p:nvPr/>
        </p:nvSpPr>
        <p:spPr>
          <a:xfrm>
            <a:off x="8989526" y="5103022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</a:t>
            </a:r>
            <a:endParaRPr lang="en-PH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62DAD1-E74F-62C3-E36C-F210214F5BEC}"/>
              </a:ext>
            </a:extLst>
          </p:cNvPr>
          <p:cNvSpPr txBox="1"/>
          <p:nvPr/>
        </p:nvSpPr>
        <p:spPr>
          <a:xfrm>
            <a:off x="5883091" y="4363338"/>
            <a:ext cx="579188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3% of people disagree with you, 97% agree (997,721 votes)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763272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42 0.01505 L 0.11107 0.01505 L 0.20925 0.01713 L 0.2931 0.01713 L 0.3306 0.03472 L 0.3681 0.02894 L 0.45964 0.04468 L 0.47175 0.04468 L 0.52031 0.03287 C 0.52761 0.01759 0.52578 0.02477 0.528 0.0132 L 0.54779 -0.075 L 0.56992 -0.22801 L 0.57539 -0.24768 L 0.5832 -0.32801 " pathEditMode="relative" ptsTypes="AAAAAAAAAAAAAA">
                                      <p:cBhvr>
                                        <p:cTn id="6" dur="2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93C62AE-1457-B4B9-2FC0-63939060B7B8}"/>
              </a:ext>
            </a:extLst>
          </p:cNvPr>
          <p:cNvSpPr/>
          <p:nvPr/>
        </p:nvSpPr>
        <p:spPr>
          <a:xfrm>
            <a:off x="517021" y="3805518"/>
            <a:ext cx="4649908" cy="173713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The trolley is headed towards a group of people, and you're an onlooker. The only way to save them is to convince someone else to sacrifice themselves and jump in front of the trolley. </a:t>
            </a:r>
            <a:r>
              <a:rPr lang="en-US" b="1" dirty="0">
                <a:solidFill>
                  <a:schemeClr val="tx1"/>
                </a:solidFill>
              </a:rPr>
              <a:t>Would you try to persuade someone else to take that action?</a:t>
            </a:r>
            <a:endParaRPr lang="en-PH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E87C39-E2DC-7887-0DCC-05E7AABDA451}"/>
              </a:ext>
            </a:extLst>
          </p:cNvPr>
          <p:cNvSpPr/>
          <p:nvPr/>
        </p:nvSpPr>
        <p:spPr>
          <a:xfrm>
            <a:off x="1508428" y="395041"/>
            <a:ext cx="2660073" cy="9254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The Unpopular Decision</a:t>
            </a:r>
            <a:endParaRPr lang="en-PH" sz="2800" b="1" dirty="0">
              <a:solidFill>
                <a:schemeClr val="tx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95CB9F6-9E49-9505-5473-CBE5E2B44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86421" y="566997"/>
            <a:ext cx="419158" cy="1000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73D594-EE16-161F-CC62-5E3F848E1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02844" y="566996"/>
            <a:ext cx="419158" cy="1000265"/>
          </a:xfrm>
          <a:prstGeom prst="rect">
            <a:avLst/>
          </a:prstGeom>
        </p:spPr>
      </p:pic>
      <p:sp>
        <p:nvSpPr>
          <p:cNvPr id="8" name="TextBox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54601D3-E2DA-2BB3-D806-5075F5EF1C95}"/>
              </a:ext>
            </a:extLst>
          </p:cNvPr>
          <p:cNvSpPr txBox="1"/>
          <p:nvPr/>
        </p:nvSpPr>
        <p:spPr>
          <a:xfrm>
            <a:off x="1314450" y="6000781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YES</a:t>
            </a:r>
            <a:endParaRPr lang="en-PH" dirty="0"/>
          </a:p>
        </p:txBody>
      </p:sp>
      <p:sp>
        <p:nvSpPr>
          <p:cNvPr id="11" name="TextBox 1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7AFD35DC-4ADA-9DF8-EDFB-3090837278ED}"/>
              </a:ext>
            </a:extLst>
          </p:cNvPr>
          <p:cNvSpPr txBox="1"/>
          <p:nvPr/>
        </p:nvSpPr>
        <p:spPr>
          <a:xfrm>
            <a:off x="3019075" y="6000781"/>
            <a:ext cx="117282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  <a:endParaRPr lang="en-PH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FD3937-8FE1-F475-3E7C-3997888C6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4512" y="2134789"/>
            <a:ext cx="419158" cy="10002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C2276D-BB00-D8C9-956B-C5051097E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65356" y="2634921"/>
            <a:ext cx="419158" cy="10002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AA68A2-46B4-ECCA-4B83-DA55E2CFD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33338" y="2581136"/>
            <a:ext cx="419158" cy="10002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909A47-3E8E-C688-D3CB-56AFF4615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08945" y="1876881"/>
            <a:ext cx="419158" cy="10002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140E49-1454-D1B4-A991-45BB42505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43272" y="1812833"/>
            <a:ext cx="419158" cy="100026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E692D7A-D10F-82EF-6750-065E2CA3BDC9}"/>
              </a:ext>
            </a:extLst>
          </p:cNvPr>
          <p:cNvCxnSpPr>
            <a:cxnSpLocks/>
          </p:cNvCxnSpPr>
          <p:nvPr/>
        </p:nvCxnSpPr>
        <p:spPr>
          <a:xfrm flipV="1">
            <a:off x="0" y="2436647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61D775-904A-3B74-3AD4-A32A5B94CEB2}"/>
              </a:ext>
            </a:extLst>
          </p:cNvPr>
          <p:cNvCxnSpPr>
            <a:cxnSpLocks/>
          </p:cNvCxnSpPr>
          <p:nvPr/>
        </p:nvCxnSpPr>
        <p:spPr>
          <a:xfrm flipV="1">
            <a:off x="-1" y="2964872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7F4D5670-942C-3438-158C-5FFB35BA5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73" y="2197400"/>
            <a:ext cx="2424954" cy="76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8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93C62AE-1457-B4B9-2FC0-63939060B7B8}"/>
              </a:ext>
            </a:extLst>
          </p:cNvPr>
          <p:cNvSpPr/>
          <p:nvPr/>
        </p:nvSpPr>
        <p:spPr>
          <a:xfrm>
            <a:off x="517021" y="3805518"/>
            <a:ext cx="4649908" cy="173713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The trolley is headed towards a group of people, and you're an onlooker. The only way to save them is to convince someone else to sacrifice themselves and jump in front of the trolley. </a:t>
            </a:r>
            <a:r>
              <a:rPr lang="en-US" b="1" dirty="0">
                <a:solidFill>
                  <a:schemeClr val="tx1"/>
                </a:solidFill>
              </a:rPr>
              <a:t>Would you try to persuade someone else to take that action?</a:t>
            </a:r>
            <a:endParaRPr lang="en-PH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E87C39-E2DC-7887-0DCC-05E7AABDA451}"/>
              </a:ext>
            </a:extLst>
          </p:cNvPr>
          <p:cNvSpPr/>
          <p:nvPr/>
        </p:nvSpPr>
        <p:spPr>
          <a:xfrm>
            <a:off x="1508428" y="395041"/>
            <a:ext cx="2660073" cy="9254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The Unpopular Decision</a:t>
            </a:r>
            <a:endParaRPr lang="en-PH" sz="2800" b="1" dirty="0">
              <a:solidFill>
                <a:schemeClr val="tx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95CB9F6-9E49-9505-5473-CBE5E2B44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86421" y="566997"/>
            <a:ext cx="419158" cy="10002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4601D3-E2DA-2BB3-D806-5075F5EF1C95}"/>
              </a:ext>
            </a:extLst>
          </p:cNvPr>
          <p:cNvSpPr txBox="1"/>
          <p:nvPr/>
        </p:nvSpPr>
        <p:spPr>
          <a:xfrm>
            <a:off x="1314450" y="6000781"/>
            <a:ext cx="117282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YES</a:t>
            </a:r>
            <a:endParaRPr lang="en-P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FD35DC-4ADA-9DF8-EDFB-3090837278ED}"/>
              </a:ext>
            </a:extLst>
          </p:cNvPr>
          <p:cNvSpPr txBox="1"/>
          <p:nvPr/>
        </p:nvSpPr>
        <p:spPr>
          <a:xfrm>
            <a:off x="3019075" y="6000781"/>
            <a:ext cx="117282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  <a:endParaRPr lang="en-PH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FD3937-8FE1-F475-3E7C-3997888C6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4512" y="2134789"/>
            <a:ext cx="419158" cy="10002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C2276D-BB00-D8C9-956B-C5051097E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65356" y="2634921"/>
            <a:ext cx="419158" cy="10002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AA68A2-46B4-ECCA-4B83-DA55E2CFD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33338" y="2581136"/>
            <a:ext cx="419158" cy="10002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909A47-3E8E-C688-D3CB-56AFF4615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08945" y="1876881"/>
            <a:ext cx="419158" cy="10002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140E49-1454-D1B4-A991-45BB42505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43272" y="1812833"/>
            <a:ext cx="419158" cy="100026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E692D7A-D10F-82EF-6750-065E2CA3BDC9}"/>
              </a:ext>
            </a:extLst>
          </p:cNvPr>
          <p:cNvCxnSpPr>
            <a:cxnSpLocks/>
          </p:cNvCxnSpPr>
          <p:nvPr/>
        </p:nvCxnSpPr>
        <p:spPr>
          <a:xfrm flipV="1">
            <a:off x="0" y="2436647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61D775-904A-3B74-3AD4-A32A5B94CEB2}"/>
              </a:ext>
            </a:extLst>
          </p:cNvPr>
          <p:cNvCxnSpPr>
            <a:cxnSpLocks/>
          </p:cNvCxnSpPr>
          <p:nvPr/>
        </p:nvCxnSpPr>
        <p:spPr>
          <a:xfrm flipV="1">
            <a:off x="-1" y="2964872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7F4D5670-942C-3438-158C-5FFB35BA5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73" y="2197400"/>
            <a:ext cx="2424954" cy="767472"/>
          </a:xfrm>
          <a:prstGeom prst="rect">
            <a:avLst/>
          </a:prstGeom>
        </p:spPr>
      </p:pic>
      <p:sp>
        <p:nvSpPr>
          <p:cNvPr id="2" name="TextBox 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8784F43-0BC4-2EE3-FB81-96050E02E75C}"/>
              </a:ext>
            </a:extLst>
          </p:cNvPr>
          <p:cNvSpPr txBox="1"/>
          <p:nvPr/>
        </p:nvSpPr>
        <p:spPr>
          <a:xfrm>
            <a:off x="7374697" y="5097956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RESET</a:t>
            </a:r>
            <a:endParaRPr lang="en-PH" dirty="0"/>
          </a:p>
        </p:txBody>
      </p:sp>
      <p:sp>
        <p:nvSpPr>
          <p:cNvPr id="3" name="TextBox 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53363FD-C5F0-0E52-ECC8-48E34FAF20C0}"/>
              </a:ext>
            </a:extLst>
          </p:cNvPr>
          <p:cNvSpPr txBox="1"/>
          <p:nvPr/>
        </p:nvSpPr>
        <p:spPr>
          <a:xfrm>
            <a:off x="8989526" y="5103022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</a:t>
            </a:r>
            <a:endParaRPr lang="en-P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1B0CB-8D1E-340C-83A6-C04B79778C27}"/>
              </a:ext>
            </a:extLst>
          </p:cNvPr>
          <p:cNvSpPr txBox="1"/>
          <p:nvPr/>
        </p:nvSpPr>
        <p:spPr>
          <a:xfrm>
            <a:off x="5883091" y="4363338"/>
            <a:ext cx="579188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84% of people agree with you, 16% disagree (927,854 votes)</a:t>
            </a:r>
            <a:endParaRPr lang="en-P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8EA4A-E431-C8DF-C80B-6CCED025E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02844" y="566996"/>
            <a:ext cx="419158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956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3 0.00995 L 0.43737 0.0078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97" y="-11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01412 L 0.06562 0.25254 " pathEditMode="relative" ptsTypes="AA"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93C62AE-1457-B4B9-2FC0-63939060B7B8}"/>
              </a:ext>
            </a:extLst>
          </p:cNvPr>
          <p:cNvSpPr/>
          <p:nvPr/>
        </p:nvSpPr>
        <p:spPr>
          <a:xfrm>
            <a:off x="517021" y="3805518"/>
            <a:ext cx="4649908" cy="173713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The trolley is headed towards a group of people, and you're an onlooker. The only way to save them is to convince someone else to sacrifice themselves and jump in front of the trolley. </a:t>
            </a:r>
            <a:r>
              <a:rPr lang="en-US" b="1" dirty="0">
                <a:solidFill>
                  <a:schemeClr val="tx1"/>
                </a:solidFill>
              </a:rPr>
              <a:t>Would you try to persuade someone else to take that action?</a:t>
            </a:r>
            <a:endParaRPr lang="en-PH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E87C39-E2DC-7887-0DCC-05E7AABDA451}"/>
              </a:ext>
            </a:extLst>
          </p:cNvPr>
          <p:cNvSpPr/>
          <p:nvPr/>
        </p:nvSpPr>
        <p:spPr>
          <a:xfrm>
            <a:off x="1508428" y="395041"/>
            <a:ext cx="2660073" cy="9254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The Unpopular Decision</a:t>
            </a:r>
            <a:endParaRPr lang="en-PH" sz="2800" b="1" dirty="0">
              <a:solidFill>
                <a:schemeClr val="tx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95CB9F6-9E49-9505-5473-CBE5E2B44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86421" y="566997"/>
            <a:ext cx="419158" cy="1000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73D594-EE16-161F-CC62-5E3F848E1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02844" y="566996"/>
            <a:ext cx="419158" cy="10002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4601D3-E2DA-2BB3-D806-5075F5EF1C95}"/>
              </a:ext>
            </a:extLst>
          </p:cNvPr>
          <p:cNvSpPr txBox="1"/>
          <p:nvPr/>
        </p:nvSpPr>
        <p:spPr>
          <a:xfrm>
            <a:off x="1314450" y="6000781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YES</a:t>
            </a:r>
            <a:endParaRPr lang="en-P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FD35DC-4ADA-9DF8-EDFB-3090837278ED}"/>
              </a:ext>
            </a:extLst>
          </p:cNvPr>
          <p:cNvSpPr txBox="1"/>
          <p:nvPr/>
        </p:nvSpPr>
        <p:spPr>
          <a:xfrm>
            <a:off x="3019075" y="6000781"/>
            <a:ext cx="117282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  <a:endParaRPr lang="en-PH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FD3937-8FE1-F475-3E7C-3997888C6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4512" y="2134789"/>
            <a:ext cx="419158" cy="10002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C2276D-BB00-D8C9-956B-C5051097E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65356" y="2634921"/>
            <a:ext cx="419158" cy="10002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AA68A2-46B4-ECCA-4B83-DA55E2CFD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33338" y="2581136"/>
            <a:ext cx="419158" cy="10002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909A47-3E8E-C688-D3CB-56AFF4615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08945" y="1876881"/>
            <a:ext cx="419158" cy="10002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140E49-1454-D1B4-A991-45BB42505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19" b="99048" l="2273" r="95455">
                        <a14:foregroundMark x1="52273" y1="10476" x2="61364" y2="62857"/>
                        <a14:foregroundMark x1="15909" y1="11429" x2="29545" y2="62857"/>
                        <a14:foregroundMark x1="29545" y1="62857" x2="52273" y2="63810"/>
                        <a14:foregroundMark x1="61364" y1="38095" x2="63636" y2="61905"/>
                        <a14:foregroundMark x1="59091" y1="30476" x2="56818" y2="39048"/>
                        <a14:foregroundMark x1="29545" y1="16190" x2="56818" y2="51429"/>
                        <a14:foregroundMark x1="43182" y1="30476" x2="52273" y2="49524"/>
                        <a14:foregroundMark x1="34091" y1="37143" x2="36364" y2="50476"/>
                        <a14:foregroundMark x1="18182" y1="44762" x2="43182" y2="43810"/>
                        <a14:foregroundMark x1="36364" y1="42857" x2="31818" y2="67619"/>
                        <a14:foregroundMark x1="2273" y1="54286" x2="6818" y2="54286"/>
                        <a14:foregroundMark x1="6818" y1="52381" x2="9091" y2="64762"/>
                        <a14:foregroundMark x1="13636" y1="42857" x2="20455" y2="66667"/>
                        <a14:foregroundMark x1="27273" y1="57143" x2="38636" y2="77143"/>
                        <a14:foregroundMark x1="38636" y1="70476" x2="88636" y2="71429"/>
                        <a14:foregroundMark x1="79545" y1="67619" x2="86364" y2="79048"/>
                        <a14:foregroundMark x1="97727" y1="60952" x2="88636" y2="76190"/>
                        <a14:foregroundMark x1="86364" y1="61905" x2="47727" y2="81905"/>
                        <a14:foregroundMark x1="52273" y1="71429" x2="61364" y2="89524"/>
                        <a14:foregroundMark x1="79545" y1="89524" x2="34091" y2="91429"/>
                        <a14:foregroundMark x1="86364" y1="87619" x2="47727" y2="89524"/>
                        <a14:foregroundMark x1="52273" y1="88571" x2="81818" y2="95238"/>
                        <a14:foregroundMark x1="47727" y1="99048" x2="34091" y2="98095"/>
                        <a14:foregroundMark x1="63636" y1="95238" x2="20455" y2="97143"/>
                        <a14:foregroundMark x1="50000" y1="93333" x2="15909" y2="85714"/>
                        <a14:foregroundMark x1="20455" y1="77143" x2="31818" y2="88571"/>
                        <a14:foregroundMark x1="75000" y1="46667" x2="88636" y2="45714"/>
                        <a14:foregroundMark x1="88636" y1="39048" x2="90909" y2="50476"/>
                        <a14:foregroundMark x1="95455" y1="24762" x2="97727" y2="50476"/>
                        <a14:foregroundMark x1="97727" y1="12381" x2="95455" y2="47619"/>
                        <a14:foregroundMark x1="84091" y1="20952" x2="18182" y2="29524"/>
                        <a14:foregroundMark x1="65909" y1="7619" x2="27273" y2="14286"/>
                        <a14:foregroundMark x1="50000" y1="10476" x2="34091" y2="12381"/>
                        <a14:foregroundMark x1="25000" y1="8571" x2="27273" y2="8571"/>
                        <a14:foregroundMark x1="29545" y1="7619" x2="93182" y2="6667"/>
                        <a14:foregroundMark x1="45455" y1="6667" x2="29545" y2="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43272" y="1812833"/>
            <a:ext cx="419158" cy="100026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E692D7A-D10F-82EF-6750-065E2CA3BDC9}"/>
              </a:ext>
            </a:extLst>
          </p:cNvPr>
          <p:cNvCxnSpPr>
            <a:cxnSpLocks/>
          </p:cNvCxnSpPr>
          <p:nvPr/>
        </p:nvCxnSpPr>
        <p:spPr>
          <a:xfrm flipV="1">
            <a:off x="0" y="2436647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61D775-904A-3B74-3AD4-A32A5B94CEB2}"/>
              </a:ext>
            </a:extLst>
          </p:cNvPr>
          <p:cNvCxnSpPr>
            <a:cxnSpLocks/>
          </p:cNvCxnSpPr>
          <p:nvPr/>
        </p:nvCxnSpPr>
        <p:spPr>
          <a:xfrm flipV="1">
            <a:off x="-1" y="2964872"/>
            <a:ext cx="12192000" cy="264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7F4D5670-942C-3438-158C-5FFB35BA5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73" y="2197400"/>
            <a:ext cx="2424954" cy="767472"/>
          </a:xfrm>
          <a:prstGeom prst="rect">
            <a:avLst/>
          </a:prstGeom>
        </p:spPr>
      </p:pic>
      <p:sp>
        <p:nvSpPr>
          <p:cNvPr id="2" name="TextBox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6CE7772-02F3-A559-6683-387B315C0AE7}"/>
              </a:ext>
            </a:extLst>
          </p:cNvPr>
          <p:cNvSpPr txBox="1"/>
          <p:nvPr/>
        </p:nvSpPr>
        <p:spPr>
          <a:xfrm>
            <a:off x="7374697" y="5097956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RESET</a:t>
            </a:r>
            <a:endParaRPr lang="en-PH" dirty="0"/>
          </a:p>
        </p:txBody>
      </p:sp>
      <p:sp>
        <p:nvSpPr>
          <p:cNvPr id="3" name="TextBox 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014F04E-E761-E440-F827-900812DDA3F2}"/>
              </a:ext>
            </a:extLst>
          </p:cNvPr>
          <p:cNvSpPr txBox="1"/>
          <p:nvPr/>
        </p:nvSpPr>
        <p:spPr>
          <a:xfrm>
            <a:off x="8989526" y="5103022"/>
            <a:ext cx="117282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</a:t>
            </a:r>
            <a:endParaRPr lang="en-P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E64F6-B0DC-9D91-7D95-A04E975060A0}"/>
              </a:ext>
            </a:extLst>
          </p:cNvPr>
          <p:cNvSpPr txBox="1"/>
          <p:nvPr/>
        </p:nvSpPr>
        <p:spPr>
          <a:xfrm>
            <a:off x="5883091" y="4363338"/>
            <a:ext cx="579188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16% of people disagree with you, 84% agree (927,854 votes)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653403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1.11111E-6 L 0.82865 -0.00579 " pathEditMode="relative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1076</Words>
  <Application>Microsoft Office PowerPoint</Application>
  <PresentationFormat>Widescreen</PresentationFormat>
  <Paragraphs>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TROLLEY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Guian Paul Sumagpang</dc:creator>
  <cp:lastModifiedBy>Guian Paul Sumagpang</cp:lastModifiedBy>
  <cp:revision>19</cp:revision>
  <dcterms:created xsi:type="dcterms:W3CDTF">2023-12-11T15:23:32Z</dcterms:created>
  <dcterms:modified xsi:type="dcterms:W3CDTF">2023-12-13T15:01:31Z</dcterms:modified>
</cp:coreProperties>
</file>